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339" r:id="rId6"/>
    <p:sldId id="340" r:id="rId7"/>
    <p:sldId id="303" r:id="rId8"/>
    <p:sldId id="304" r:id="rId9"/>
    <p:sldId id="341" r:id="rId10"/>
    <p:sldId id="306" r:id="rId11"/>
    <p:sldId id="308" r:id="rId12"/>
    <p:sldId id="342" r:id="rId13"/>
    <p:sldId id="311" r:id="rId14"/>
    <p:sldId id="343" r:id="rId15"/>
    <p:sldId id="313" r:id="rId16"/>
    <p:sldId id="344" r:id="rId17"/>
    <p:sldId id="345" r:id="rId18"/>
    <p:sldId id="317" r:id="rId19"/>
    <p:sldId id="318" r:id="rId20"/>
    <p:sldId id="319" r:id="rId21"/>
    <p:sldId id="320" r:id="rId22"/>
    <p:sldId id="323" r:id="rId23"/>
    <p:sldId id="324" r:id="rId24"/>
    <p:sldId id="325" r:id="rId25"/>
    <p:sldId id="326" r:id="rId26"/>
    <p:sldId id="278" r:id="rId2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2532"/>
    <a:srgbClr val="FF9900"/>
    <a:srgbClr val="FF6D09"/>
    <a:srgbClr val="FF832F"/>
    <a:srgbClr val="FFFFFF"/>
    <a:srgbClr val="D23540"/>
    <a:srgbClr val="0792BD"/>
    <a:srgbClr val="454545"/>
    <a:srgbClr val="FF9F0A"/>
    <a:srgbClr val="F373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9B3F28-D1C3-A422-B40D-754B421BC14B}" v="6" dt="2026-05-12T08:04:14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son 안병헌" userId="S::jackson.ahn@onionsoftware.com::6856d8a8-bcd9-409c-ad0a-38a2a0128acc" providerId="AD" clId="Web-{C79B3F28-D1C3-A422-B40D-754B421BC14B}"/>
    <pc:docChg chg="modSld">
      <pc:chgData name="Jackson 안병헌" userId="S::jackson.ahn@onionsoftware.com::6856d8a8-bcd9-409c-ad0a-38a2a0128acc" providerId="AD" clId="Web-{C79B3F28-D1C3-A422-B40D-754B421BC14B}" dt="2026-05-12T08:04:14.303" v="4" actId="14100"/>
      <pc:docMkLst>
        <pc:docMk/>
      </pc:docMkLst>
      <pc:sldChg chg="delSp modSp">
        <pc:chgData name="Jackson 안병헌" userId="S::jackson.ahn@onionsoftware.com::6856d8a8-bcd9-409c-ad0a-38a2a0128acc" providerId="AD" clId="Web-{C79B3F28-D1C3-A422-B40D-754B421BC14B}" dt="2026-05-12T08:04:14.303" v="4" actId="14100"/>
        <pc:sldMkLst>
          <pc:docMk/>
          <pc:sldMk cId="0" sldId="339"/>
        </pc:sldMkLst>
        <pc:spChg chg="del">
          <ac:chgData name="Jackson 안병헌" userId="S::jackson.ahn@onionsoftware.com::6856d8a8-bcd9-409c-ad0a-38a2a0128acc" providerId="AD" clId="Web-{C79B3F28-D1C3-A422-B40D-754B421BC14B}" dt="2026-05-12T08:04:04.270" v="1"/>
          <ac:spMkLst>
            <pc:docMk/>
            <pc:sldMk cId="0" sldId="339"/>
            <ac:spMk id="29" creationId="{00000000-0000-0000-0000-000000000000}"/>
          </ac:spMkLst>
        </pc:spChg>
        <pc:spChg chg="mod">
          <ac:chgData name="Jackson 안병헌" userId="S::jackson.ahn@onionsoftware.com::6856d8a8-bcd9-409c-ad0a-38a2a0128acc" providerId="AD" clId="Web-{C79B3F28-D1C3-A422-B40D-754B421BC14B}" dt="2026-05-12T08:04:14.303" v="4" actId="14100"/>
          <ac:spMkLst>
            <pc:docMk/>
            <pc:sldMk cId="0" sldId="339"/>
            <ac:spMk id="30" creationId="{00000000-0000-0000-0000-000000000000}"/>
          </ac:spMkLst>
        </pc:spChg>
        <pc:spChg chg="mod">
          <ac:chgData name="Jackson 안병헌" userId="S::jackson.ahn@onionsoftware.com::6856d8a8-bcd9-409c-ad0a-38a2a0128acc" providerId="AD" clId="Web-{C79B3F28-D1C3-A422-B40D-754B421BC14B}" dt="2026-05-12T08:04:00.879" v="0" actId="20577"/>
          <ac:spMkLst>
            <pc:docMk/>
            <pc:sldMk cId="0" sldId="339"/>
            <ac:spMk id="35" creationId="{DDFACC8B-F100-8F7F-F956-A55CACF4BF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7338A-DCBE-4F0A-8D67-2A781EACAA4E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A02D7-D3A8-41F2-BC23-FF763546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1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92F-A6D3-B466-88B1-203644B3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pic>
        <p:nvPicPr>
          <p:cNvPr id="7" name="Picture 6" descr="이미지 미리 보기">
            <a:extLst>
              <a:ext uri="{FF2B5EF4-FFF2-40B4-BE49-F238E27FC236}">
                <a16:creationId xmlns:a16="http://schemas.microsoft.com/office/drawing/2014/main" id="{1A6371AE-3A5C-5A71-54A0-D1A1278836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235267-127B-762D-EA1E-97DB2EA2E7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502" y="6176414"/>
            <a:ext cx="1602997" cy="572499"/>
          </a:xfrm>
          <a:prstGeom prst="rect">
            <a:avLst/>
          </a:prstGeom>
        </p:spPr>
      </p:pic>
      <p:pic>
        <p:nvPicPr>
          <p:cNvPr id="9" name="Picture 2" descr="로고">
            <a:extLst>
              <a:ext uri="{FF2B5EF4-FFF2-40B4-BE49-F238E27FC236}">
                <a16:creationId xmlns:a16="http://schemas.microsoft.com/office/drawing/2014/main" id="{1B17F92F-39B5-0184-A0EE-136DD32A46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9" y="2523024"/>
            <a:ext cx="3102615" cy="64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786D82-92EA-7B65-7A1C-BC5467DCDE1B}"/>
              </a:ext>
            </a:extLst>
          </p:cNvPr>
          <p:cNvCxnSpPr>
            <a:cxnSpLocks/>
          </p:cNvCxnSpPr>
          <p:nvPr userDrawn="1"/>
        </p:nvCxnSpPr>
        <p:spPr>
          <a:xfrm>
            <a:off x="673319" y="4055628"/>
            <a:ext cx="86535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747D517-6D67-8952-CEB5-806ED09DD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750" y="3344166"/>
            <a:ext cx="9035753" cy="706541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39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이미지 미리 보기">
            <a:extLst>
              <a:ext uri="{FF2B5EF4-FFF2-40B4-BE49-F238E27FC236}">
                <a16:creationId xmlns:a16="http://schemas.microsoft.com/office/drawing/2014/main" id="{054FD5CA-8B5B-0171-D8A5-817EF26AA8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AE796E-0BB1-923B-C17C-BAEA0B56B9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502" y="6176414"/>
            <a:ext cx="1602997" cy="57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4F32B-6E50-D2FE-7E5E-DF607A71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CDB8F-AEB5-7EAC-228E-0DF2AC7C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3CCD4-2F68-C5D8-831A-1DF476DE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0B627-023E-85DC-A3D8-04109A6D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63775-4DFB-0176-27BC-E08F1E28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18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F1F71-9B11-F5F4-CE42-678BB49E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C32C0E-A724-868A-599F-8A7952306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A221F-F071-5A8B-4596-811E5C43A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E078E-C29C-6FBB-C492-451276D2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54B547-25D1-FC13-08B4-E93B8553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95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0D05B-E9C2-BDB4-F20E-B7AC2347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70548-FFAD-207C-9CD5-4E257B12E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2317D6-542C-9131-7F5C-0C1741F1F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82CC40-1B8D-E0FE-C025-26C5AB6E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4268EB-CD6E-4FD1-C486-0E2E67CD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10681B-25B0-6D41-3B97-BB5DB696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96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E5391-3646-16A6-E0AA-AD6EA188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BA1CD-E431-542C-AB6A-75EE417EB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17DBC1-99CE-B782-7691-3636D3751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BD0BE4-92EE-94C8-F43A-19413D49A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E95338-B97D-E0E3-1EA8-F4D3120A5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A75084-573A-6FAC-6F20-3C464C5C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C7FD2D-937A-3BD4-0282-10C4DB04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01077A-E85D-335C-D761-720BB8AA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17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232790-3EF2-6DCB-0D1A-A166B5FCB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994476"/>
            <a:ext cx="2183802" cy="28594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BC78AA-77AD-2F20-0C91-BF16F4FB80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5496" y="0"/>
            <a:ext cx="5866504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1E8E73-AE30-976D-D746-115CA5F0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74" y="552734"/>
            <a:ext cx="10037748" cy="499171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AFB89F8-C974-6EF8-BF59-4C9B4B3A0D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2" y="343033"/>
            <a:ext cx="613003" cy="80270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AF082F-6EF2-2173-E243-24313F3DE5FC}"/>
              </a:ext>
            </a:extLst>
          </p:cNvPr>
          <p:cNvCxnSpPr>
            <a:cxnSpLocks/>
          </p:cNvCxnSpPr>
          <p:nvPr userDrawn="1"/>
        </p:nvCxnSpPr>
        <p:spPr>
          <a:xfrm>
            <a:off x="1276350" y="1046584"/>
            <a:ext cx="100857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5EA96E7-7820-FB74-B567-B2591D176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68242"/>
            <a:ext cx="5272648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301E266-4715-BB37-C9D1-B934B87CA4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alphaModFix amt="24000"/>
          </a:blip>
          <a:stretch>
            <a:fillRect/>
          </a:stretch>
        </p:blipFill>
        <p:spPr>
          <a:xfrm>
            <a:off x="3793203" y="1593352"/>
            <a:ext cx="4302908" cy="38478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D543C7-BCBE-9BAA-4967-ED80E52800C1}"/>
              </a:ext>
            </a:extLst>
          </p:cNvPr>
          <p:cNvSpPr txBox="1"/>
          <p:nvPr userDrawn="1"/>
        </p:nvSpPr>
        <p:spPr>
          <a:xfrm>
            <a:off x="9973156" y="123779"/>
            <a:ext cx="21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Internal Use Only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8C9339D-66EF-03B8-9419-7B739E8CAB2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07" y="6107563"/>
            <a:ext cx="1500930" cy="5360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D4B4A0-B707-99EB-F813-A605A2F08743}"/>
              </a:ext>
            </a:extLst>
          </p:cNvPr>
          <p:cNvSpPr txBox="1"/>
          <p:nvPr userDrawn="1"/>
        </p:nvSpPr>
        <p:spPr>
          <a:xfrm>
            <a:off x="1641768" y="6389690"/>
            <a:ext cx="8908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</a:rPr>
              <a:t>Disclaimer </a:t>
            </a:r>
            <a:r>
              <a:rPr lang="en-US" altLang="ko-KR" sz="1200">
                <a:solidFill>
                  <a:srgbClr val="C00000"/>
                </a:solidFill>
              </a:rPr>
              <a:t>: This document technical information owned by ONION SOFTWARE, protected by copyright. All rights reserved.</a:t>
            </a:r>
          </a:p>
          <a:p>
            <a:pPr algn="ctr"/>
            <a:r>
              <a:rPr lang="en-US" altLang="ko-KR" sz="1200">
                <a:solidFill>
                  <a:srgbClr val="C00000"/>
                </a:solidFill>
              </a:rPr>
              <a:t>Confidential and Proprietary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0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232790-3EF2-6DCB-0D1A-A166B5FCB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994476"/>
            <a:ext cx="2183802" cy="28594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BC78AA-77AD-2F20-0C91-BF16F4FB80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5496" y="0"/>
            <a:ext cx="5866504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1E8E73-AE30-976D-D746-115CA5F0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74" y="552734"/>
            <a:ext cx="10037748" cy="499171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AFB89F8-C974-6EF8-BF59-4C9B4B3A0D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2" y="343033"/>
            <a:ext cx="613003" cy="80270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AF082F-6EF2-2173-E243-24313F3DE5FC}"/>
              </a:ext>
            </a:extLst>
          </p:cNvPr>
          <p:cNvCxnSpPr>
            <a:cxnSpLocks/>
          </p:cNvCxnSpPr>
          <p:nvPr userDrawn="1"/>
        </p:nvCxnSpPr>
        <p:spPr>
          <a:xfrm>
            <a:off x="1276350" y="1046584"/>
            <a:ext cx="100857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5EA96E7-7820-FB74-B567-B2591D176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8174" y="1368242"/>
            <a:ext cx="10200474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A9F732-A945-0374-D518-8ABDDAB6EC2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alphaModFix amt="24000"/>
          </a:blip>
          <a:stretch>
            <a:fillRect/>
          </a:stretch>
        </p:blipFill>
        <p:spPr>
          <a:xfrm>
            <a:off x="3793203" y="1593352"/>
            <a:ext cx="4302908" cy="3847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8A509D-3E72-00BD-1F48-831754FF0A59}"/>
              </a:ext>
            </a:extLst>
          </p:cNvPr>
          <p:cNvSpPr txBox="1"/>
          <p:nvPr userDrawn="1"/>
        </p:nvSpPr>
        <p:spPr>
          <a:xfrm>
            <a:off x="9973156" y="123779"/>
            <a:ext cx="21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Internal Use Only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D9F206-260B-3113-1976-B6AB3562A86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07" y="6107563"/>
            <a:ext cx="1500930" cy="5360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0C5268-375B-1CE7-9469-3CFF264190F9}"/>
              </a:ext>
            </a:extLst>
          </p:cNvPr>
          <p:cNvSpPr txBox="1"/>
          <p:nvPr userDrawn="1"/>
        </p:nvSpPr>
        <p:spPr>
          <a:xfrm>
            <a:off x="1641768" y="6389690"/>
            <a:ext cx="8908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</a:rPr>
              <a:t>Disclaimer </a:t>
            </a:r>
            <a:r>
              <a:rPr lang="en-US" altLang="ko-KR" sz="1200">
                <a:solidFill>
                  <a:srgbClr val="C00000"/>
                </a:solidFill>
              </a:rPr>
              <a:t>: This document technical information owned by ONION SOFTWARE, protected by copyright. All rights reserved.</a:t>
            </a:r>
          </a:p>
          <a:p>
            <a:pPr algn="ctr"/>
            <a:r>
              <a:rPr lang="en-US" altLang="ko-KR" sz="1200">
                <a:solidFill>
                  <a:srgbClr val="C00000"/>
                </a:solidFill>
              </a:rPr>
              <a:t>Confidential and Proprietary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93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232790-3EF2-6DCB-0D1A-A166B5FCB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994476"/>
            <a:ext cx="2183802" cy="28594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BC78AA-77AD-2F20-0C91-BF16F4FB80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5496" y="0"/>
            <a:ext cx="5866504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1E8E73-AE30-976D-D746-115CA5F0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74" y="552734"/>
            <a:ext cx="10037748" cy="499171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AFB89F8-C974-6EF8-BF59-4C9B4B3A0D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2" y="343033"/>
            <a:ext cx="613003" cy="80270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AF082F-6EF2-2173-E243-24313F3DE5FC}"/>
              </a:ext>
            </a:extLst>
          </p:cNvPr>
          <p:cNvCxnSpPr>
            <a:cxnSpLocks/>
          </p:cNvCxnSpPr>
          <p:nvPr userDrawn="1"/>
        </p:nvCxnSpPr>
        <p:spPr>
          <a:xfrm>
            <a:off x="1276350" y="1046584"/>
            <a:ext cx="100857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5EA96E7-7820-FB74-B567-B2591D176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8174" y="1368242"/>
            <a:ext cx="4927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292C4CC-C552-F0A7-ABD3-A8B9003BE75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8096" y="1361698"/>
            <a:ext cx="4927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F6D7BF-9C98-2593-6233-1FDC2715187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alphaModFix amt="24000"/>
          </a:blip>
          <a:stretch>
            <a:fillRect/>
          </a:stretch>
        </p:blipFill>
        <p:spPr>
          <a:xfrm>
            <a:off x="3793203" y="1593352"/>
            <a:ext cx="4302908" cy="3847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772CDF-C56E-E686-6FC4-D0D4892BB242}"/>
              </a:ext>
            </a:extLst>
          </p:cNvPr>
          <p:cNvSpPr txBox="1"/>
          <p:nvPr userDrawn="1"/>
        </p:nvSpPr>
        <p:spPr>
          <a:xfrm>
            <a:off x="9973156" y="123779"/>
            <a:ext cx="21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Internal Use Only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203F4D-F5A2-F32A-5AA7-E7D54BA19E5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07" y="6107563"/>
            <a:ext cx="1500930" cy="5360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8C928E5-763F-6913-0EC3-9893C4EDF2A5}"/>
              </a:ext>
            </a:extLst>
          </p:cNvPr>
          <p:cNvSpPr txBox="1"/>
          <p:nvPr userDrawn="1"/>
        </p:nvSpPr>
        <p:spPr>
          <a:xfrm>
            <a:off x="1641768" y="6389690"/>
            <a:ext cx="8908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</a:rPr>
              <a:t>Disclaimer </a:t>
            </a:r>
            <a:r>
              <a:rPr lang="en-US" altLang="ko-KR" sz="1200">
                <a:solidFill>
                  <a:srgbClr val="C00000"/>
                </a:solidFill>
              </a:rPr>
              <a:t>: This document technical information owned by ONION SOFTWARE, protected by copyright. All rights reserved.</a:t>
            </a:r>
          </a:p>
          <a:p>
            <a:pPr algn="ctr"/>
            <a:r>
              <a:rPr lang="en-US" altLang="ko-KR" sz="1200">
                <a:solidFill>
                  <a:srgbClr val="C00000"/>
                </a:solidFill>
              </a:rPr>
              <a:t>Confidential and Proprietary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92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4932C79-403A-66D7-D9B9-9EC1672902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994476"/>
            <a:ext cx="2183802" cy="28594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DB23019-1DB8-5997-A018-5505894341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5496" y="0"/>
            <a:ext cx="5866504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7865DA-902D-06F6-16CE-CAFBB8FC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4C62FD-DEC2-8767-327E-3311751D80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alphaModFix amt="24000"/>
          </a:blip>
          <a:stretch>
            <a:fillRect/>
          </a:stretch>
        </p:blipFill>
        <p:spPr>
          <a:xfrm>
            <a:off x="3793203" y="1593352"/>
            <a:ext cx="4302908" cy="3847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843D15-77EF-590E-4DFE-3EE1BB49FD20}"/>
              </a:ext>
            </a:extLst>
          </p:cNvPr>
          <p:cNvSpPr txBox="1"/>
          <p:nvPr userDrawn="1"/>
        </p:nvSpPr>
        <p:spPr>
          <a:xfrm>
            <a:off x="9973156" y="123779"/>
            <a:ext cx="21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Internal Use Only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FAF9888-EC73-A0A6-0F2C-CAEC66A714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07" y="6107563"/>
            <a:ext cx="1500930" cy="5360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E1EB17-2CEC-52C6-BF3F-F28367EF8E09}"/>
              </a:ext>
            </a:extLst>
          </p:cNvPr>
          <p:cNvSpPr txBox="1"/>
          <p:nvPr userDrawn="1"/>
        </p:nvSpPr>
        <p:spPr>
          <a:xfrm>
            <a:off x="1641768" y="6389690"/>
            <a:ext cx="8908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</a:rPr>
              <a:t>Disclaimer </a:t>
            </a:r>
            <a:r>
              <a:rPr lang="en-US" altLang="ko-KR" sz="1200">
                <a:solidFill>
                  <a:srgbClr val="C00000"/>
                </a:solidFill>
              </a:rPr>
              <a:t>: This document technical information owned by ONION SOFTWARE, protected by copyright. All rights reserved.</a:t>
            </a:r>
          </a:p>
          <a:p>
            <a:pPr algn="ctr"/>
            <a:r>
              <a:rPr lang="en-US" altLang="ko-KR" sz="1200">
                <a:solidFill>
                  <a:srgbClr val="C00000"/>
                </a:solidFill>
              </a:rPr>
              <a:t>Confidential and Proprietary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47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D064B0-E83A-D129-54C4-FF8A819E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8DF5F7-DBDA-0A18-E03C-D73CA245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0B9DD-2842-5DB2-C43B-FDD2214F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465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A80C2-289A-3943-4A39-7FD360C6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745A5-9810-CEAE-3907-2801B9CC9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7D2B5-B5DA-05AF-3AE4-4EC2169F7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ED2AA2-9523-DF07-5234-126CA7CB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F7B2B0-DA6C-7F96-C426-8BAC734A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D810E2-E4B1-1BA0-917A-055D7ECF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008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23E33-4716-FF22-2182-AF387524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C2ECAB-F670-BDB7-6B5A-FA2B86138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239F82-93AA-9066-A890-9730DC9F5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16C668-F5FF-9153-2737-0DF07EF4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3E7A6F-BA82-96AB-64B0-DEA2C139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E4385-826C-3FD3-6F23-4F6993B4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525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4DCD7-2CE6-321D-7A28-157CB981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2BE831-D6BE-BBD7-3AE9-5A12C12E0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04BA7-AEB9-5C67-977A-5B43A5FF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DBDCB-246A-B65D-9586-6B8148D0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9DAA5-D5CF-D6D4-BE7B-5DDA9D86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61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10A605-C08C-C5EA-49D4-5D2C827DE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24D7D-C59B-135F-8FDC-A489D9A7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798A0-7373-77B6-54FF-F60C27B2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62490-5102-B054-0C5D-B881EF9D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2D259-8EB3-6133-7C17-A4D58230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7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007B97-63F2-A43B-69C2-F108CEBF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3799B0-4D96-C2EB-48D1-6D062966A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55332-8EE2-75BE-E3C4-EF0DBCE43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CC555-622C-41F0-A806-0FEC6F0CAD4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3D45B-FF5D-C1F6-CEF5-5FD48C86E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4627E-1F84-2F45-1E13-30A6A2714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78ABB-D386-4961-ABEF-5275FC87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4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64" r:id="rId9"/>
    <p:sldLayoutId id="2147483662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12CC124-3604-30AD-5CF9-783F10C17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400" b="1"/>
              <a:t>Collector </a:t>
            </a:r>
            <a:r>
              <a:rPr sz="4400" b="1" err="1"/>
              <a:t>MonitorServic</a:t>
            </a:r>
            <a:r>
              <a:rPr lang="en" sz="4400" b="1"/>
              <a:t>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47E3-A2B1-E2E7-86C4-B233C377B7DD}"/>
              </a:ext>
            </a:extLst>
          </p:cNvPr>
          <p:cNvSpPr txBox="1"/>
          <p:nvPr/>
        </p:nvSpPr>
        <p:spPr>
          <a:xfrm>
            <a:off x="606750" y="409835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err="1">
                <a:solidFill>
                  <a:srgbClr val="FF6D09"/>
                </a:solidFill>
              </a:rPr>
              <a:t>DataCenter</a:t>
            </a:r>
            <a:r>
              <a:rPr lang="en-US" altLang="ko-KR" b="1">
                <a:solidFill>
                  <a:srgbClr val="FF6D09"/>
                </a:solidFill>
              </a:rPr>
              <a:t> </a:t>
            </a:r>
            <a:r>
              <a:rPr lang="en-US" altLang="ko-KR" b="1" err="1">
                <a:solidFill>
                  <a:srgbClr val="FF6D09"/>
                </a:solidFill>
              </a:rPr>
              <a:t>OpsWare</a:t>
            </a:r>
            <a:r>
              <a:rPr lang="en-US" altLang="ko-KR" b="1">
                <a:solidFill>
                  <a:srgbClr val="FF6D09"/>
                </a:solidFill>
              </a:rPr>
              <a:t> Solution MK119 v10</a:t>
            </a:r>
            <a:endParaRPr lang="ko-KR" altLang="en-US" b="1">
              <a:solidFill>
                <a:srgbClr val="FF6D0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C1A4AE-E6BC-D2FB-8B76-879A78C82D39}"/>
              </a:ext>
            </a:extLst>
          </p:cNvPr>
          <p:cNvSpPr txBox="1"/>
          <p:nvPr/>
        </p:nvSpPr>
        <p:spPr>
          <a:xfrm>
            <a:off x="9973156" y="123779"/>
            <a:ext cx="21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Internal Use Only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97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505"/>
            <a:ext cx="5669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Collector가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외부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장치들과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통신하면서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수집하는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"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작업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전체"를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책임지는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컴포넌트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618488"/>
            <a:ext cx="56692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91440" cy="4434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6D09"/>
                </a:solidFill>
                <a:latin typeface="맑은 고딕"/>
              </a:rPr>
              <a:t>이 모듈이 하는 일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331720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외부 장치 통신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2585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PLC / BACnet / SNMP / DB / REST / IoT 등 다종 프로토콜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834640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7614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동시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614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수백 ~ 수천 대 장비를 동시에 폴링·수신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337560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2644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결과 스트리밍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26440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Redis 캐시 + Kafka 스트림으로 흘려보냄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840480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제어 수신·중계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7673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Admin/API 의 제어 명령을 장치에 전달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343400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2702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자가 진단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2702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수집이 멈췄는지 스스로 점검·재시작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618488"/>
            <a:ext cx="5166360" cy="44348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46520" y="1618488"/>
            <a:ext cx="91440" cy="4434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18013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A54D"/>
                </a:solidFill>
                <a:latin typeface="맑은 고딕"/>
              </a:rPr>
              <a:t>한 줄로 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241816"/>
            <a:ext cx="4754880" cy="1261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6BE"/>
                </a:solidFill>
                <a:latin typeface="맑은 고딕"/>
              </a:rPr>
              <a:t>외부에서는 MonitorService.start() / stop() / startMonitor() 같은 정적 메소드만 호출하면 된다.
내부 24종 *MonitorService 와 수천 개 Monitor 는 외부에 노출되지 않는다.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제목 34">
            <a:extLst>
              <a:ext uri="{FF2B5EF4-FFF2-40B4-BE49-F238E27FC236}">
                <a16:creationId xmlns:a16="http://schemas.microsoft.com/office/drawing/2014/main" id="{DDFACC8B-F100-8F7F-F956-A55CACF4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err="1">
                <a:solidFill>
                  <a:srgbClr val="222222"/>
                </a:solidFill>
                <a:ea typeface="맑은 고딕"/>
              </a:rPr>
              <a:t>MonitorService</a:t>
            </a:r>
            <a:endParaRPr lang="ko-KR" altLang="en-US" err="1">
              <a:solidFill>
                <a:srgbClr val="222222"/>
              </a:solidFill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위에서 아래로 1:N 관계 — 컨트롤 타워 → 프로토콜 컨테이너 → 장치 단위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58919"/>
            <a:ext cx="10561320" cy="8686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58919"/>
            <a:ext cx="91440" cy="8686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586351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Layer 1 · 싱글턴 Facade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78959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8F8F2"/>
                </a:solidFill>
                <a:latin typeface="맑은 고딕"/>
              </a:rPr>
              <a:t>MonitorService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7895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0B6BE"/>
                </a:solidFill>
                <a:latin typeface="맑은 고딕"/>
              </a:rPr>
              <a:t>프로세스당 1개 · getInstance()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7331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93359"/>
            <a:ext cx="10561320" cy="17830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793359"/>
            <a:ext cx="91440" cy="17830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839079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Layer 2 · 프로토콜별 컨테이너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13399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AbstractMonitorService 를 상속한 24종 서비스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TCPMonitorService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6352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16352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UDPMonitorService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SNMPMonitorService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54496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PLCMonitorService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3568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73568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BACnetMonitorService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361631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361631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DBMonitorService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RedfishMonitorService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16352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KafkaMonitorService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35424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MQTTMonitorService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54496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IEC61850MonitorService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3568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73568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RESTMonitorService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936359"/>
            <a:ext cx="16733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92640" y="3936359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+ 18종 더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302119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각 서비스가 자기 프로토콜의 모든 장비 Monitor 를 monitorMap 에 보유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62215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942199"/>
            <a:ext cx="10561320" cy="10972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" y="4942199"/>
            <a:ext cx="91440" cy="1097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7280" y="4987919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Layer 3 · 장치 인터페이스 단위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262239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err="1">
                <a:solidFill>
                  <a:srgbClr val="222222"/>
                </a:solidFill>
                <a:latin typeface="맑은 고딕"/>
              </a:rPr>
              <a:t>AbstractMonitor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400" b="1" err="1">
                <a:solidFill>
                  <a:srgbClr val="222222"/>
                </a:solidFill>
                <a:latin typeface="맑은 고딕"/>
              </a:rPr>
              <a:t>를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400" b="1" err="1">
                <a:solidFill>
                  <a:srgbClr val="222222"/>
                </a:solidFill>
                <a:latin typeface="맑은 고딕"/>
              </a:rPr>
              <a:t>상속한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400" b="1" err="1">
                <a:solidFill>
                  <a:srgbClr val="222222"/>
                </a:solidFill>
                <a:latin typeface="맑은 고딕"/>
              </a:rPr>
              <a:t>GenericTCPMonitor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/ </a:t>
            </a:r>
            <a:r>
              <a:rPr sz="1400" b="1" err="1">
                <a:solidFill>
                  <a:srgbClr val="222222"/>
                </a:solidFill>
                <a:latin typeface="맑은 고딕"/>
              </a:rPr>
              <a:t>SNMPMonitor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/ </a:t>
            </a:r>
            <a:r>
              <a:rPr sz="1400" b="1" err="1">
                <a:solidFill>
                  <a:srgbClr val="222222"/>
                </a:solidFill>
                <a:latin typeface="맑은 고딕"/>
              </a:rPr>
              <a:t>BACnetMonitor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 / 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673719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DeviceInterface 1개 = Monitor 1개  ·  deviceInterfaceId 가 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제목 51">
            <a:extLst>
              <a:ext uri="{FF2B5EF4-FFF2-40B4-BE49-F238E27FC236}">
                <a16:creationId xmlns:a16="http://schemas.microsoft.com/office/drawing/2014/main" id="{B4788ABA-16C2-2FA9-7340-7D01B141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핵심은 </a:t>
            </a:r>
            <a:r>
              <a:rPr lang="en-US" altLang="ko-KR">
                <a:solidFill>
                  <a:srgbClr val="222222"/>
                </a:solidFill>
              </a:rPr>
              <a:t>3</a:t>
            </a:r>
            <a:r>
              <a:rPr lang="ko-KR" altLang="en-US">
                <a:solidFill>
                  <a:srgbClr val="222222"/>
                </a:solidFill>
              </a:rPr>
              <a:t>계층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코드와 뗄 수 있도록 익숙한 그림으로 머릿속에 박아두기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3657600" cy="411480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36192"/>
            <a:ext cx="91440" cy="41148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6D09"/>
                </a:solidFill>
                <a:latin typeface="맑은 고딕"/>
              </a:rPr>
              <a:t>MonitorService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맑은 고딕"/>
              </a:rPr>
              <a:t>콜센터 본사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3227832"/>
            <a:ext cx="3200400" cy="18288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456432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한 회사에 1개
전체를 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7" y="3456432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6D09"/>
                </a:solidFill>
                <a:latin typeface="맑은 고딕"/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536192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536192"/>
            <a:ext cx="91440" cy="411480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81051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err="1">
                <a:solidFill>
                  <a:srgbClr val="FFA54D"/>
                </a:solidFill>
                <a:latin typeface="맑은 고딕"/>
              </a:rPr>
              <a:t>x</a:t>
            </a:r>
            <a:r>
              <a:rPr sz="1300" b="1" err="1">
                <a:solidFill>
                  <a:srgbClr val="FFA54D"/>
                </a:solidFill>
                <a:latin typeface="맑은 고딕"/>
              </a:rPr>
              <a:t>xxMonitorService</a:t>
            </a:r>
            <a:endParaRPr sz="1300" b="1">
              <a:solidFill>
                <a:srgbClr val="FFA54D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63440" y="23134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맑은 고딕"/>
              </a:rPr>
              <a:t>언어별 상담 부서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227832"/>
            <a:ext cx="3200400" cy="18288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456432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영어팀, 한국어팀 …
(24개 부서)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456432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6D09"/>
                </a:solidFill>
                <a:latin typeface="맑은 고딕"/>
              </a:rPr>
              <a:t>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36192"/>
            <a:ext cx="3657600" cy="41148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536192"/>
            <a:ext cx="91440" cy="41148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181051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err="1">
                <a:solidFill>
                  <a:srgbClr val="FFA54D"/>
                </a:solidFill>
                <a:latin typeface="맑은 고딕"/>
              </a:rPr>
              <a:t>x</a:t>
            </a:r>
            <a:r>
              <a:rPr sz="1300" b="1" err="1">
                <a:solidFill>
                  <a:srgbClr val="FFA54D"/>
                </a:solidFill>
                <a:latin typeface="맑은 고딕"/>
              </a:rPr>
              <a:t>xxMonitor</a:t>
            </a:r>
            <a:endParaRPr sz="1300" b="1">
              <a:solidFill>
                <a:srgbClr val="FFA54D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23134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8F2"/>
                </a:solidFill>
                <a:latin typeface="맑은 고딕"/>
              </a:rPr>
              <a:t>개별 상담사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227832"/>
            <a:ext cx="3200400" cy="18288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3456432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B0B6BE"/>
                </a:solidFill>
                <a:latin typeface="맑은 고딕"/>
              </a:rPr>
              <a:t>고객 1명 담당
(수백~수천명)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7959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err="1">
                <a:solidFill>
                  <a:srgbClr val="6C7580"/>
                </a:solidFill>
                <a:latin typeface="맑은 고딕"/>
              </a:rPr>
              <a:t>본사가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직접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고객을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받지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않듯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,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MonitorService도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장치를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직접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호출하지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않는다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—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하위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계층에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위임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제목 31">
            <a:extLst>
              <a:ext uri="{FF2B5EF4-FFF2-40B4-BE49-F238E27FC236}">
                <a16:creationId xmlns:a16="http://schemas.microsoft.com/office/drawing/2014/main" id="{6CB19B4F-8079-BE05-E0DB-69E9EBF1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222222"/>
                </a:solidFill>
              </a:rPr>
              <a:t>3</a:t>
            </a:r>
            <a:r>
              <a:rPr lang="ko-KR" altLang="en-US">
                <a:solidFill>
                  <a:srgbClr val="222222"/>
                </a:solidFill>
              </a:rPr>
              <a:t>계층을 비유로 풀면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장치마다 통신 방식이 천차만별 — 한 클래스에 다 넣으면 지옥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TCP </a:t>
            </a:r>
            <a:r>
              <a:rPr sz="1300" b="1" err="1">
                <a:solidFill>
                  <a:srgbClr val="222222"/>
                </a:solidFill>
                <a:latin typeface="맑은 고딕"/>
              </a:rPr>
              <a:t>바이너리</a:t>
            </a:r>
            <a:endParaRPr sz="13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PLC, Modbus,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UDP 멀티캐스트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33647"/>
            <a:ext cx="3017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IEC61850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6060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HTTP /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6060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Redfish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서버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0" y="25146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Kafka 토픽 구독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060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데이터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파이프라인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2918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DB 쿼리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918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외부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RDB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시스템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2918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가상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918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Virtual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포인트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4000500"/>
            <a:ext cx="11091672" cy="19202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000500"/>
            <a:ext cx="91440" cy="19202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1376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결과 — 24종 *MonitorService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0237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TCP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44347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UDP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49760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Serial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5173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Modbus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7541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SNMP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9909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BACnet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2277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PLC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4645" y="4549140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IEC61850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0237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MQTT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44347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Kafka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49760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REST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5173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Redfish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7541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DB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59909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Virtual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2277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MK119 OPC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64645" y="4933188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OPC v2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0237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PassiveTCP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344347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TCP Listener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9760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>
                <a:solidFill>
                  <a:srgbClr val="F8F8F2"/>
                </a:solidFill>
              </a:rPr>
              <a:t>UDP Listener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55173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LizKafka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257541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LizSysDB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559909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LizSysStatus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862277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Combinated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0164645" y="5317236"/>
            <a:ext cx="1075510" cy="274320"/>
          </a:xfrm>
          <a:prstGeom prst="rect">
            <a:avLst/>
          </a:prstGeom>
          <a:solidFill>
            <a:srgbClr val="2C3A4B"/>
          </a:solidFill>
          <a:ln w="6350">
            <a:solidFill>
              <a:srgbClr val="2C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900" b="1" err="1">
                <a:solidFill>
                  <a:srgbClr val="F8F8F2"/>
                </a:solidFill>
              </a:rPr>
              <a:t>AliveCheck</a:t>
            </a:r>
            <a:endParaRPr lang="en" altLang="ko-KR" sz="900" b="1">
              <a:solidFill>
                <a:srgbClr val="F8F8F2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제목 35">
            <a:extLst>
              <a:ext uri="{FF2B5EF4-FFF2-40B4-BE49-F238E27FC236}">
                <a16:creationId xmlns:a16="http://schemas.microsoft.com/office/drawing/2014/main" id="{3BB1558D-D9D0-467C-C7F2-4322B8DC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왜 프로토콜별로 서비스를 나눴나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수집의 실제 단위는 DeviceInterface — Monitor 1개가 인터페이스 1개를 담당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16162"/>
            <a:ext cx="11091672" cy="764977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16162"/>
            <a:ext cx="91440" cy="764977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5332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Device  (장비 1대)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66152"/>
            <a:ext cx="17874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err="1">
                <a:solidFill>
                  <a:srgbClr val="F8F8F2"/>
                </a:solidFill>
                <a:latin typeface="맑은 고딕"/>
              </a:rPr>
              <a:t>예</a:t>
            </a:r>
            <a:r>
              <a:rPr sz="2000" b="1">
                <a:solidFill>
                  <a:srgbClr val="F8F8F2"/>
                </a:solidFill>
                <a:latin typeface="맑은 고딕"/>
              </a:rPr>
              <a:t> :  </a:t>
            </a:r>
            <a:r>
              <a:rPr sz="2000" b="1" err="1">
                <a:solidFill>
                  <a:srgbClr val="F8F8F2"/>
                </a:solidFill>
                <a:latin typeface="맑은 고딕"/>
              </a:rPr>
              <a:t>분전반</a:t>
            </a:r>
            <a:r>
              <a:rPr sz="2000" b="1">
                <a:solidFill>
                  <a:srgbClr val="F8F8F2"/>
                </a:solidFill>
                <a:latin typeface="맑은 고딕"/>
              </a:rPr>
              <a:t> 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90937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45558"/>
            <a:ext cx="5394960" cy="100584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45558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3699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DeviceInterface  (통신 채널)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1131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Modbus TCP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77077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192.168.1.50 : 502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45558"/>
            <a:ext cx="5394960" cy="100584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545558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63699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DeviceInterface  (통신 채널)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1131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SNMP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77077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>
                <a:solidFill>
                  <a:srgbClr val="6C7580"/>
                </a:solidFill>
                <a:latin typeface="맑은 고딕"/>
              </a:rPr>
              <a:t>192.168.1.112 : 161</a:t>
            </a:r>
            <a:endParaRPr sz="11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960" y="3551397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28037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28037"/>
            <a:ext cx="91440" cy="13716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919477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Checkpoint  (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수집</a:t>
            </a:r>
            <a:r>
              <a:rPr sz="1100" b="1">
                <a:solidFill>
                  <a:srgbClr val="FF6D09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항목</a:t>
            </a:r>
            <a:r>
              <a:rPr sz="1100" b="1">
                <a:solidFill>
                  <a:srgbClr val="FF6D09"/>
                </a:solidFill>
                <a:latin typeface="맑은 고딕"/>
              </a:rPr>
              <a:t>)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312669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239517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err="1">
                <a:solidFill>
                  <a:srgbClr val="333333"/>
                </a:solidFill>
                <a:latin typeface="맑은 고딕"/>
              </a:rPr>
              <a:t>전압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(FLOAT, </a:t>
            </a:r>
            <a:r>
              <a:rPr lang="en-US" sz="1100" b="0">
                <a:solidFill>
                  <a:srgbClr val="333333"/>
                </a:solidFill>
                <a:latin typeface="맑은 고딕"/>
              </a:rPr>
              <a:t>5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초)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4605277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532125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err="1">
                <a:solidFill>
                  <a:srgbClr val="333333"/>
                </a:solidFill>
                <a:latin typeface="맑은 고딕"/>
              </a:rPr>
              <a:t>전류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(FLOAT, </a:t>
            </a:r>
            <a:r>
              <a:rPr lang="en-US" sz="1100" b="0">
                <a:solidFill>
                  <a:srgbClr val="333333"/>
                </a:solidFill>
                <a:latin typeface="맑은 고딕"/>
              </a:rPr>
              <a:t>5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초)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4897885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824733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err="1">
                <a:solidFill>
                  <a:srgbClr val="333333"/>
                </a:solidFill>
                <a:latin typeface="맑은 고딕"/>
              </a:rPr>
              <a:t>온도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(INT16, </a:t>
            </a:r>
            <a:r>
              <a:rPr lang="en-US" sz="1100" b="0">
                <a:solidFill>
                  <a:srgbClr val="333333"/>
                </a:solidFill>
                <a:latin typeface="맑은 고딕"/>
              </a:rPr>
              <a:t>5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초)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2542" y="5303520"/>
            <a:ext cx="5394960" cy="114184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2542" y="5303520"/>
            <a:ext cx="91440" cy="1141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46862" y="539496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err="1">
                <a:solidFill>
                  <a:srgbClr val="FF6D09"/>
                </a:solidFill>
                <a:latin typeface="맑은 고딕"/>
              </a:rPr>
              <a:t>핵심</a:t>
            </a:r>
            <a:r>
              <a:rPr lang="en-US" sz="1100" b="1">
                <a:solidFill>
                  <a:srgbClr val="FF6D09"/>
                </a:solidFill>
                <a:latin typeface="맑은 고딕"/>
              </a:rPr>
              <a:t> </a:t>
            </a:r>
            <a:r>
              <a:rPr lang="ko-KR" altLang="en-US" sz="1100" b="1">
                <a:solidFill>
                  <a:srgbClr val="FF6D09"/>
                </a:solidFill>
                <a:latin typeface="맑은 고딕"/>
              </a:rPr>
              <a:t>단위</a:t>
            </a:r>
            <a:endParaRPr sz="1100" b="1">
              <a:solidFill>
                <a:srgbClr val="FF6D09"/>
              </a:solidFill>
              <a:latin typeface="맑은 고딕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3792582" y="5689769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29742" y="561661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err="1">
                <a:solidFill>
                  <a:srgbClr val="333333"/>
                </a:solidFill>
                <a:latin typeface="맑은 고딕"/>
              </a:rPr>
              <a:t>수집의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실제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단위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=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DeviceInterface</a:t>
            </a:r>
            <a:endParaRPr sz="1200" b="1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792582" y="5982377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29742" y="6214415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" sz="1200" b="1">
                <a:solidFill>
                  <a:srgbClr val="333333"/>
                </a:solidFill>
                <a:latin typeface="맑은 고딕"/>
              </a:rPr>
              <a:t>Monitor</a:t>
            </a:r>
            <a:r>
              <a:rPr lang="ko-KR" altLang="en-US"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1개  =  </a:t>
            </a:r>
            <a:r>
              <a:rPr lang="en" sz="1200" b="1" err="1">
                <a:solidFill>
                  <a:srgbClr val="333333"/>
                </a:solidFill>
                <a:latin typeface="맑은 고딕"/>
              </a:rPr>
              <a:t>DeviceInterface</a:t>
            </a:r>
            <a:r>
              <a:rPr lang="en-US" sz="1200" b="1">
                <a:solidFill>
                  <a:srgbClr val="333333"/>
                </a:solidFill>
                <a:latin typeface="맑은 고딕"/>
              </a:rPr>
              <a:t> 1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개</a:t>
            </a:r>
          </a:p>
        </p:txBody>
      </p:sp>
      <p:sp>
        <p:nvSpPr>
          <p:cNvPr id="40" name="Oval 39"/>
          <p:cNvSpPr/>
          <p:nvPr/>
        </p:nvSpPr>
        <p:spPr>
          <a:xfrm>
            <a:off x="3792582" y="6274985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29742" y="592969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err="1">
                <a:solidFill>
                  <a:srgbClr val="333333"/>
                </a:solidFill>
                <a:latin typeface="맑은 고딕"/>
              </a:rPr>
              <a:t>한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장비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인터페이스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N개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→ Monitor </a:t>
            </a:r>
            <a:r>
              <a:rPr sz="1200" b="1" err="1">
                <a:solidFill>
                  <a:srgbClr val="333333"/>
                </a:solidFill>
                <a:latin typeface="맑은 고딕"/>
              </a:rPr>
              <a:t>N개</a:t>
            </a:r>
            <a:endParaRPr sz="1200" b="1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AE9FA2-1B62-B030-FE90-CD6C543B75A5}"/>
              </a:ext>
            </a:extLst>
          </p:cNvPr>
          <p:cNvSpPr txBox="1"/>
          <p:nvPr/>
        </p:nvSpPr>
        <p:spPr>
          <a:xfrm>
            <a:off x="8867502" y="3551397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46" name="Rectangle 23">
            <a:extLst>
              <a:ext uri="{FF2B5EF4-FFF2-40B4-BE49-F238E27FC236}">
                <a16:creationId xmlns:a16="http://schemas.microsoft.com/office/drawing/2014/main" id="{F44A2B5F-7D51-0AF7-B2C5-AD342FB9509B}"/>
              </a:ext>
            </a:extLst>
          </p:cNvPr>
          <p:cNvSpPr/>
          <p:nvPr/>
        </p:nvSpPr>
        <p:spPr>
          <a:xfrm>
            <a:off x="6307183" y="3828037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24">
            <a:extLst>
              <a:ext uri="{FF2B5EF4-FFF2-40B4-BE49-F238E27FC236}">
                <a16:creationId xmlns:a16="http://schemas.microsoft.com/office/drawing/2014/main" id="{EACD5D1C-D867-727A-9990-30AEBF9EF42A}"/>
              </a:ext>
            </a:extLst>
          </p:cNvPr>
          <p:cNvSpPr/>
          <p:nvPr/>
        </p:nvSpPr>
        <p:spPr>
          <a:xfrm>
            <a:off x="6307183" y="3828037"/>
            <a:ext cx="91440" cy="13716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491E11-0AB7-A1D5-7D90-E9627FF20108}"/>
              </a:ext>
            </a:extLst>
          </p:cNvPr>
          <p:cNvSpPr txBox="1"/>
          <p:nvPr/>
        </p:nvSpPr>
        <p:spPr>
          <a:xfrm>
            <a:off x="6581503" y="3919477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Checkpoint  (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수집</a:t>
            </a:r>
            <a:r>
              <a:rPr sz="1100" b="1">
                <a:solidFill>
                  <a:srgbClr val="FF6D09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항목</a:t>
            </a:r>
            <a:r>
              <a:rPr sz="1100" b="1">
                <a:solidFill>
                  <a:srgbClr val="FF6D09"/>
                </a:solidFill>
                <a:latin typeface="맑은 고딕"/>
              </a:rPr>
              <a:t>)</a:t>
            </a:r>
          </a:p>
        </p:txBody>
      </p:sp>
      <p:sp>
        <p:nvSpPr>
          <p:cNvPr id="49" name="Oval 26">
            <a:extLst>
              <a:ext uri="{FF2B5EF4-FFF2-40B4-BE49-F238E27FC236}">
                <a16:creationId xmlns:a16="http://schemas.microsoft.com/office/drawing/2014/main" id="{BD4FFE28-F2DE-D5F7-DF2D-0D1A4CEDE4F3}"/>
              </a:ext>
            </a:extLst>
          </p:cNvPr>
          <p:cNvSpPr/>
          <p:nvPr/>
        </p:nvSpPr>
        <p:spPr>
          <a:xfrm>
            <a:off x="6627223" y="4312669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8F7D48-C282-E450-80F9-03D309A220FD}"/>
              </a:ext>
            </a:extLst>
          </p:cNvPr>
          <p:cNvSpPr txBox="1"/>
          <p:nvPr/>
        </p:nvSpPr>
        <p:spPr>
          <a:xfrm>
            <a:off x="6764383" y="4239517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333333"/>
                </a:solidFill>
                <a:latin typeface="맑은 고딕"/>
              </a:rPr>
              <a:t>온도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(FLOAT, 1</a:t>
            </a:r>
            <a:r>
              <a:rPr lang="en-US" sz="1100" b="0">
                <a:solidFill>
                  <a:srgbClr val="333333"/>
                </a:solidFill>
                <a:latin typeface="맑은 고딕"/>
              </a:rPr>
              <a:t>0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초)</a:t>
            </a:r>
          </a:p>
        </p:txBody>
      </p:sp>
      <p:sp>
        <p:nvSpPr>
          <p:cNvPr id="51" name="Oval 28">
            <a:extLst>
              <a:ext uri="{FF2B5EF4-FFF2-40B4-BE49-F238E27FC236}">
                <a16:creationId xmlns:a16="http://schemas.microsoft.com/office/drawing/2014/main" id="{2F5597F1-CCDF-1CDD-2A65-C8BF46B22764}"/>
              </a:ext>
            </a:extLst>
          </p:cNvPr>
          <p:cNvSpPr/>
          <p:nvPr/>
        </p:nvSpPr>
        <p:spPr>
          <a:xfrm>
            <a:off x="6627223" y="4605277"/>
            <a:ext cx="91440" cy="91440"/>
          </a:xfrm>
          <a:prstGeom prst="ellipse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0F3895-C4C7-442B-E9C2-E58FD935FFBC}"/>
              </a:ext>
            </a:extLst>
          </p:cNvPr>
          <p:cNvSpPr txBox="1"/>
          <p:nvPr/>
        </p:nvSpPr>
        <p:spPr>
          <a:xfrm>
            <a:off x="6764383" y="4532125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333333"/>
                </a:solidFill>
                <a:latin typeface="맑은 고딕"/>
              </a:rPr>
              <a:t>압력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(FLOAT, </a:t>
            </a:r>
            <a:r>
              <a:rPr lang="en-US" sz="1100">
                <a:solidFill>
                  <a:srgbClr val="333333"/>
                </a:solidFill>
                <a:latin typeface="맑은 고딕"/>
              </a:rPr>
              <a:t>10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초)</a:t>
            </a:r>
          </a:p>
        </p:txBody>
      </p:sp>
      <p:sp>
        <p:nvSpPr>
          <p:cNvPr id="56" name="제목 55">
            <a:extLst>
              <a:ext uri="{FF2B5EF4-FFF2-40B4-BE49-F238E27FC236}">
                <a16:creationId xmlns:a16="http://schemas.microsoft.com/office/drawing/2014/main" id="{205EEE0A-5153-E12A-6053-4D305813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222222"/>
                </a:solidFill>
              </a:rPr>
              <a:t>Device · </a:t>
            </a:r>
            <a:r>
              <a:rPr lang="en" altLang="ko-KR" err="1">
                <a:solidFill>
                  <a:srgbClr val="222222"/>
                </a:solidFill>
              </a:rPr>
              <a:t>DeviceInterface</a:t>
            </a:r>
            <a:r>
              <a:rPr lang="en" altLang="ko-KR">
                <a:solidFill>
                  <a:srgbClr val="222222"/>
                </a:solidFill>
              </a:rPr>
              <a:t> · Checkpoint</a:t>
            </a: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Collector 부팅부터 모든 모니터가 "준비 완료"가 될 때까지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13199"/>
            <a:ext cx="110916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13199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0463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55891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Collector 부팅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558919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JVM </a:t>
            </a:r>
            <a:r>
              <a:rPr sz="1100" b="0" err="1">
                <a:solidFill>
                  <a:srgbClr val="6C7580"/>
                </a:solidFill>
                <a:latin typeface="맑은 고딕"/>
              </a:rPr>
              <a:t>시작</a:t>
            </a:r>
            <a:r>
              <a:rPr lang="en-US" altLang="ko-KR" sz="1100" b="0">
                <a:solidFill>
                  <a:srgbClr val="6C7580"/>
                </a:solidFill>
                <a:latin typeface="맑은 고딕"/>
              </a:rPr>
              <a:t>,</a:t>
            </a:r>
            <a:r>
              <a:rPr lang="ko-KR" altLang="en-US" sz="1100" b="0">
                <a:solidFill>
                  <a:srgbClr val="6C7580"/>
                </a:solidFill>
                <a:latin typeface="맑은 고딕"/>
              </a:rPr>
              <a:t> 종료 훅 등록</a:t>
            </a:r>
            <a:endParaRPr sz="11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162423"/>
            <a:ext cx="11091672" cy="5943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162423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53863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20814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MonitorService.start()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208143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단일 진입점에서 전체 모니터링 시동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11647"/>
            <a:ext cx="110916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2811647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903087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2857367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프로토콜별 24종 startService()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857367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TCP, UDP, SNMP … 각 서비스가 자기 담당 인터페이스 조회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60871"/>
            <a:ext cx="11091672" cy="5943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460871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55231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3506591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DeviceInterface 마다 Monitor 1개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506591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통신 시작 (소켓 / 구독 / 커넥션 …)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0095"/>
            <a:ext cx="110916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110095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201535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4155815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isStarted() = true 까지 1초 polling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155815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모든 서비스가 "준비 완료"가 될 때까지 대기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59319"/>
            <a:ext cx="11091672" cy="5943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759319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85075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19" y="480503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DeviceAliveCheckService 시작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4805039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장비 생존 감시 — 마지막에 시작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08543"/>
            <a:ext cx="110916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5408543"/>
            <a:ext cx="91440" cy="5943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499983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6D09"/>
                </a:solidFill>
                <a:latin typeface="맑은 고딕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19" y="545426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SelfChecker 시작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5454263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수집 자체 자가 진단 — 여기서 시동 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제목 45">
            <a:extLst>
              <a:ext uri="{FF2B5EF4-FFF2-40B4-BE49-F238E27FC236}">
                <a16:creationId xmlns:a16="http://schemas.microsoft.com/office/drawing/2014/main" id="{F7C9C530-9258-40D8-EA5B-48352038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시작 흐름 </a:t>
            </a:r>
            <a:r>
              <a:rPr lang="en-US" altLang="ko-KR">
                <a:solidFill>
                  <a:srgbClr val="222222"/>
                </a:solidFill>
              </a:rPr>
              <a:t>— </a:t>
            </a:r>
            <a:r>
              <a:rPr lang="ko-KR" altLang="en-US">
                <a:solidFill>
                  <a:srgbClr val="222222"/>
                </a:solidFill>
              </a:rPr>
              <a:t>위에서 아래로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Monitor 하나가 살아있는 동안 내부에서 일어나는 6가지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91440" cy="13258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연결 수립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TCP 소켓, MQTT 구독, DB 커넥션 등을 연다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91440" cy="13258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9202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202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수집 스케줄링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3172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어떤 체크포인트를 언제 읽을지 우선순위 큐로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91440" cy="13258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19202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요청 / 응답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정해진 주기에 맞춰 요청 송신, 응답 파싱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91440" cy="132588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4290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A54D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4290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결과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84048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받은 값을 Redis 캐시 + Kafka 스트리밍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33756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3337560"/>
            <a:ext cx="91440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4290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장애 처리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84048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응답 실패 재시도, N회 초과 시 DEVICE_ERROR 알람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337560"/>
            <a:ext cx="36576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3337560"/>
            <a:ext cx="91440" cy="132588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34290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A54D"/>
                </a:solidFill>
                <a:latin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4290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제어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4048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C7580"/>
                </a:solidFill>
                <a:latin typeface="맑은 고딕"/>
              </a:rPr>
              <a:t>사용자 명령을 큐에 넣어 폴링 루프에서 순차 실행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37760"/>
            <a:ext cx="11091672" cy="100584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937760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6D09"/>
                </a:solidFill>
                <a:latin typeface="맑은 고딕"/>
              </a:rPr>
              <a:t>→ 장치 1대 단위로 독립적으로 굴러간다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C7580"/>
                </a:solidFill>
                <a:latin typeface="맑은 고딕"/>
              </a:rPr>
              <a:t>그래서 한 장비가 죽어도 다른 장비는 계속 수집된다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제목 44">
            <a:extLst>
              <a:ext uri="{FF2B5EF4-FFF2-40B4-BE49-F238E27FC236}">
                <a16:creationId xmlns:a16="http://schemas.microsoft.com/office/drawing/2014/main" id="{AFC801F4-7750-ADBA-3518-0E4C197D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한 장비를 모니터링한다는 것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"100개 체크포인트가 있는데, 다음에 뭘 읽어야 하지?"의 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4937760" cy="452628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9607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A54D"/>
                </a:solidFill>
                <a:latin typeface="맑은 고딕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61839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8F8F2"/>
                </a:solidFill>
                <a:latin typeface="맑은 고딕"/>
              </a:rPr>
              <a:t>100개 체크포인트가 있는데
다음에 뭘 읽어야 하지?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79159"/>
            <a:ext cx="4572000" cy="18288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1631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A54D"/>
                </a:solidFill>
                <a:latin typeface="맑은 고딕"/>
              </a:rPr>
              <a:t>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82079"/>
            <a:ext cx="327877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600" b="1">
                <a:solidFill>
                  <a:srgbClr val="F8F8F2"/>
                </a:solidFill>
                <a:latin typeface="맑은 고딕"/>
              </a:rPr>
              <a:t>수집</a:t>
            </a:r>
            <a:r>
              <a:rPr sz="2600" b="1" err="1">
                <a:solidFill>
                  <a:srgbClr val="F8F8F2"/>
                </a:solidFill>
                <a:latin typeface="맑은 고딕"/>
              </a:rPr>
              <a:t>시간</a:t>
            </a:r>
            <a:r>
              <a:rPr sz="2600" b="1">
                <a:solidFill>
                  <a:srgbClr val="F8F8F2"/>
                </a:solidFill>
                <a:latin typeface="맑은 고딕"/>
              </a:rPr>
              <a:t> </a:t>
            </a:r>
            <a:r>
              <a:rPr sz="2600" b="1" err="1">
                <a:solidFill>
                  <a:srgbClr val="F8F8F2"/>
                </a:solidFill>
                <a:latin typeface="맑은 고딕"/>
              </a:rPr>
              <a:t>우선순위</a:t>
            </a:r>
            <a:r>
              <a:rPr sz="2600" b="1">
                <a:solidFill>
                  <a:srgbClr val="F8F8F2"/>
                </a:solidFill>
                <a:latin typeface="맑은 고딕"/>
              </a:rPr>
              <a:t> </a:t>
            </a:r>
            <a:r>
              <a:rPr sz="2600" b="1" err="1">
                <a:solidFill>
                  <a:srgbClr val="F8F8F2"/>
                </a:solidFill>
                <a:latin typeface="맑은 고딕"/>
              </a:rPr>
              <a:t>큐</a:t>
            </a:r>
            <a:endParaRPr sz="2600" b="1">
              <a:solidFill>
                <a:srgbClr val="F8F8F2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125079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err="1">
                <a:solidFill>
                  <a:srgbClr val="B0B6BE"/>
                </a:solidFill>
                <a:latin typeface="맑은 고딕"/>
              </a:rPr>
              <a:t>각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체크포인트는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"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다음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수집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예정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시각"을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가지고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,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가장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빠른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놈이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큐의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맨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B0B6BE"/>
                </a:solidFill>
                <a:latin typeface="맑은 고딕"/>
              </a:rPr>
              <a:t>앞</a:t>
            </a:r>
            <a:r>
              <a:rPr sz="1100" b="0">
                <a:solidFill>
                  <a:srgbClr val="B0B6BE"/>
                </a:solidFill>
                <a:latin typeface="맑은 고딕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558919"/>
            <a:ext cx="598932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0" y="1558919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169607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6D09"/>
                </a:solidFill>
                <a:latin typeface="맑은 고딕"/>
              </a:rPr>
              <a:t>큐 동작 한눈에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354447"/>
            <a:ext cx="5486400" cy="45720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2354447"/>
            <a:ext cx="91440" cy="4572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458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CP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44588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+ 100ms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445887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전압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866511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2866511"/>
            <a:ext cx="91440" cy="45720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295795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CP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95795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+ 250ms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5795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전류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378575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3378575"/>
            <a:ext cx="91440" cy="45720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470015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CP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470015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+ 1.0s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470015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전력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890639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89320" y="3890639"/>
            <a:ext cx="91440" cy="457200"/>
          </a:xfrm>
          <a:prstGeom prst="rect">
            <a:avLst/>
          </a:prstGeom>
          <a:solidFill>
            <a:srgbClr val="6C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98207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CP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98207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C7580"/>
                </a:solidFill>
                <a:latin typeface="맑은 고딕"/>
              </a:rPr>
              <a:t>+ 5.0s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98207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온도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402703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89320" y="4402703"/>
            <a:ext cx="91440" cy="457200"/>
          </a:xfrm>
          <a:prstGeom prst="rect">
            <a:avLst/>
          </a:prstGeom>
          <a:solidFill>
            <a:srgbClr val="6C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449414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CP 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494143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C7580"/>
                </a:solidFill>
                <a:latin typeface="맑은 고딕"/>
              </a:rPr>
              <a:t>+ 60.0s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494143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C7580"/>
                </a:solidFill>
                <a:latin typeface="맑은 고딕"/>
              </a:rPr>
              <a:t>운영시간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4914767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C7580"/>
                </a:solidFill>
                <a:latin typeface="맑은 고딕"/>
              </a:rPr>
              <a:t>수집 끝나면  "마지막 수집 + 주기"  로 재계산되어 뒤로 정렬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4D92FB-29B7-FABF-F80C-0862F426433B}"/>
              </a:ext>
            </a:extLst>
          </p:cNvPr>
          <p:cNvSpPr txBox="1"/>
          <p:nvPr/>
        </p:nvSpPr>
        <p:spPr>
          <a:xfrm>
            <a:off x="10691950" y="4453995"/>
            <a:ext cx="380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900" b="0">
                <a:solidFill>
                  <a:srgbClr val="6C7580"/>
                </a:solidFill>
                <a:latin typeface="맑은 고딕"/>
              </a:rPr>
              <a:t>tail</a:t>
            </a:r>
            <a:br>
              <a:rPr lang="en-US" altLang="ko-KR" sz="900" b="0">
                <a:solidFill>
                  <a:srgbClr val="6C7580"/>
                </a:solidFill>
                <a:latin typeface="맑은 고딕"/>
              </a:rPr>
            </a:br>
            <a:r>
              <a:rPr lang="ko-KR" altLang="en-US" sz="900">
                <a:solidFill>
                  <a:srgbClr val="6C7580"/>
                </a:solidFill>
                <a:latin typeface="맑은 고딕"/>
              </a:rPr>
              <a:t>↓</a:t>
            </a:r>
            <a:endParaRPr lang="en" altLang="ko-KR" sz="90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56669" y="2446780"/>
            <a:ext cx="104938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>
                <a:solidFill>
                  <a:srgbClr val="6C7580"/>
                </a:solidFill>
                <a:latin typeface="맑은 고딕"/>
              </a:rPr>
              <a:t>↑</a:t>
            </a:r>
            <a:endParaRPr lang="en-US" sz="900">
              <a:solidFill>
                <a:srgbClr val="6C7580"/>
              </a:solidFill>
              <a:latin typeface="맑은 고딕"/>
            </a:endParaRPr>
          </a:p>
          <a:p>
            <a:pPr algn="ctr"/>
            <a:r>
              <a:rPr sz="900" b="0">
                <a:solidFill>
                  <a:srgbClr val="6C7580"/>
                </a:solidFill>
                <a:latin typeface="맑은 고딕"/>
              </a:rPr>
              <a:t>head (</a:t>
            </a:r>
            <a:r>
              <a:rPr sz="900" b="0" err="1">
                <a:solidFill>
                  <a:srgbClr val="6C7580"/>
                </a:solidFill>
                <a:latin typeface="맑은 고딕"/>
              </a:rPr>
              <a:t>가장</a:t>
            </a:r>
            <a:r>
              <a:rPr sz="9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900" b="0" err="1">
                <a:solidFill>
                  <a:srgbClr val="6C7580"/>
                </a:solidFill>
                <a:latin typeface="맑은 고딕"/>
              </a:rPr>
              <a:t>급함</a:t>
            </a:r>
            <a:r>
              <a:rPr sz="900" b="0">
                <a:solidFill>
                  <a:srgbClr val="6C7580"/>
                </a:solidFill>
                <a:latin typeface="맑은 고딕"/>
              </a:rPr>
              <a:t>)</a:t>
            </a:r>
          </a:p>
        </p:txBody>
      </p:sp>
      <p:sp>
        <p:nvSpPr>
          <p:cNvPr id="51" name="제목 50">
            <a:extLst>
              <a:ext uri="{FF2B5EF4-FFF2-40B4-BE49-F238E27FC236}">
                <a16:creationId xmlns:a16="http://schemas.microsoft.com/office/drawing/2014/main" id="{55F9EBC8-712E-E303-06BB-F8FAA7A5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우선순위 </a:t>
            </a:r>
            <a:r>
              <a:rPr lang="ko-KR" altLang="en-US" err="1">
                <a:solidFill>
                  <a:srgbClr val="222222"/>
                </a:solidFill>
              </a:rPr>
              <a:t>폴링</a:t>
            </a:r>
            <a:r>
              <a:rPr lang="ko-KR" altLang="en-US">
                <a:solidFill>
                  <a:srgbClr val="222222"/>
                </a:solidFill>
              </a:rPr>
              <a:t> 큐 </a:t>
            </a:r>
            <a:r>
              <a:rPr lang="en-US" altLang="ko-KR">
                <a:solidFill>
                  <a:srgbClr val="222222"/>
                </a:solidFill>
              </a:rPr>
              <a:t>— </a:t>
            </a:r>
            <a:r>
              <a:rPr lang="ko-KR" altLang="en-US">
                <a:solidFill>
                  <a:srgbClr val="222222"/>
                </a:solidFill>
              </a:rPr>
              <a:t>개념만 알아두기</a:t>
            </a: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11091672" cy="91440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9144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50358"/>
            <a:ext cx="129757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Step 1 · 역할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70399"/>
            <a:ext cx="456329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err="1">
                <a:solidFill>
                  <a:srgbClr val="F8F8F2"/>
                </a:solidFill>
                <a:latin typeface="맑은 고딕"/>
              </a:rPr>
              <a:t>CollectorClusterCoordinator</a:t>
            </a:r>
            <a:r>
              <a:rPr sz="1800" b="1">
                <a:solidFill>
                  <a:srgbClr val="F8F8F2"/>
                </a:solidFill>
                <a:latin typeface="맑은 고딕"/>
              </a:rPr>
              <a:t> (</a:t>
            </a:r>
            <a:r>
              <a:rPr sz="1800" b="1" err="1">
                <a:solidFill>
                  <a:srgbClr val="F8F8F2"/>
                </a:solidFill>
                <a:latin typeface="맑은 고딕"/>
              </a:rPr>
              <a:t>ZooKeeper</a:t>
            </a:r>
            <a:r>
              <a:rPr sz="1800" b="1">
                <a:solidFill>
                  <a:srgbClr val="F8F8F2"/>
                </a:solidFill>
                <a:latin typeface="맑은 고딕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1903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93359"/>
            <a:ext cx="11091672" cy="8229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793359"/>
            <a:ext cx="91440" cy="8229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4799"/>
            <a:ext cx="138466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Step 2 · 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분기</a:t>
            </a:r>
            <a:r>
              <a:rPr sz="1100" b="1">
                <a:solidFill>
                  <a:srgbClr val="FF6D09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FF6D09"/>
                </a:solidFill>
                <a:latin typeface="맑은 고딕"/>
              </a:rPr>
              <a:t>진입점</a:t>
            </a:r>
            <a:endParaRPr sz="1100" b="1">
              <a:solidFill>
                <a:srgbClr val="FF6D09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3159119"/>
            <a:ext cx="42367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err="1">
                <a:solidFill>
                  <a:srgbClr val="222222"/>
                </a:solidFill>
                <a:latin typeface="맑은 고딕"/>
              </a:rPr>
              <a:t>determineToBeActive</a:t>
            </a:r>
            <a:r>
              <a:rPr lang="en-US" sz="1500" b="1">
                <a:solidFill>
                  <a:srgbClr val="222222"/>
                </a:solidFill>
                <a:latin typeface="맑은 고딕"/>
              </a:rPr>
              <a:t>()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 — </a:t>
            </a:r>
            <a:r>
              <a:rPr sz="1500" b="1" err="1">
                <a:solidFill>
                  <a:srgbClr val="222222"/>
                </a:solidFill>
                <a:latin typeface="맑은 고딕"/>
              </a:rPr>
              <a:t>역할에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1" err="1">
                <a:solidFill>
                  <a:srgbClr val="222222"/>
                </a:solidFill>
                <a:latin typeface="맑은 고딕"/>
              </a:rPr>
              <a:t>따라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1" err="1">
                <a:solidFill>
                  <a:srgbClr val="222222"/>
                </a:solidFill>
                <a:latin typeface="맑은 고딕"/>
              </a:rPr>
              <a:t>분기</a:t>
            </a:r>
            <a:endParaRPr sz="15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370775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70775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7799"/>
            <a:ext cx="5440680" cy="210312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027799"/>
            <a:ext cx="91440" cy="21031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46671"/>
            <a:ext cx="97100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ACTIVE 부여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4999"/>
            <a:ext cx="185274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err="1">
                <a:solidFill>
                  <a:srgbClr val="222222"/>
                </a:solidFill>
                <a:latin typeface="맑은 고딕"/>
              </a:rPr>
              <a:t>전체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err="1">
                <a:solidFill>
                  <a:srgbClr val="222222"/>
                </a:solidFill>
                <a:latin typeface="맑은 고딕"/>
              </a:rPr>
              <a:t>수집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err="1">
                <a:solidFill>
                  <a:srgbClr val="222222"/>
                </a:solidFill>
                <a:latin typeface="맑은 고딕"/>
              </a:rPr>
              <a:t>모드</a:t>
            </a:r>
            <a:endParaRPr sz="20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5033639"/>
            <a:ext cx="2971800" cy="475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err="1">
                <a:solidFill>
                  <a:srgbClr val="333333"/>
                </a:solidFill>
                <a:latin typeface="맑은 고딕"/>
              </a:rPr>
              <a:t>MonitorService를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호출하여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
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장치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통신·이벤트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수신·DB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갱신을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"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풀"로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수행</a:t>
            </a:r>
            <a:endParaRPr sz="11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0" y="4027799"/>
            <a:ext cx="5440680" cy="21031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4027799"/>
            <a:ext cx="91440" cy="2103120"/>
          </a:xfrm>
          <a:prstGeom prst="rect">
            <a:avLst/>
          </a:prstGeom>
          <a:solidFill>
            <a:srgbClr val="6C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146671"/>
            <a:ext cx="110381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C7580"/>
                </a:solidFill>
                <a:latin typeface="맑은 고딕"/>
              </a:rPr>
              <a:t>STANDBY </a:t>
            </a:r>
            <a:r>
              <a:rPr sz="1100" b="1" err="1">
                <a:solidFill>
                  <a:srgbClr val="6C7580"/>
                </a:solidFill>
                <a:latin typeface="맑은 고딕"/>
              </a:rPr>
              <a:t>부여</a:t>
            </a:r>
            <a:endParaRPr sz="1100" b="1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960" y="4484999"/>
            <a:ext cx="124532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222222"/>
                </a:solidFill>
                <a:latin typeface="맑은 고딕"/>
              </a:rPr>
              <a:t>대기 </a:t>
            </a:r>
            <a:r>
              <a:rPr sz="2000" b="1" err="1">
                <a:solidFill>
                  <a:srgbClr val="222222"/>
                </a:solidFill>
                <a:latin typeface="맑은 고딕"/>
              </a:rPr>
              <a:t>모드</a:t>
            </a:r>
            <a:endParaRPr sz="20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5033639"/>
            <a:ext cx="3476897" cy="475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err="1">
                <a:solidFill>
                  <a:srgbClr val="333333"/>
                </a:solidFill>
                <a:latin typeface="맑은 고딕"/>
              </a:rPr>
              <a:t>같은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MonitorService를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호출하지만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
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각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Monitor가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자신의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monitorMode를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보고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동작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축소</a:t>
            </a:r>
            <a:endParaRPr sz="11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제목 32">
            <a:extLst>
              <a:ext uri="{FF2B5EF4-FFF2-40B4-BE49-F238E27FC236}">
                <a16:creationId xmlns:a16="http://schemas.microsoft.com/office/drawing/2014/main" id="{FC1DE188-AFC2-9B33-0B01-48A094B8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역할 부여 흐름</a:t>
            </a: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91450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풀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동작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—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수집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이벤트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수신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상태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갱신을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모두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수행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546777"/>
            <a:ext cx="493776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46777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83937"/>
            <a:ext cx="67709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호출 체인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095417"/>
            <a:ext cx="4297680" cy="4114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095417"/>
            <a:ext cx="91440" cy="4114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221090"/>
            <a:ext cx="332367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1" err="1">
                <a:solidFill>
                  <a:srgbClr val="222222"/>
                </a:solidFill>
                <a:latin typeface="맑은 고딕"/>
              </a:rPr>
              <a:t>CollectorClusterCoordinator.getRole</a:t>
            </a:r>
            <a:r>
              <a:rPr lang="en-US" sz="1100" b="1">
                <a:solidFill>
                  <a:srgbClr val="222222"/>
                </a:solidFill>
                <a:latin typeface="맑은 고딕"/>
              </a:rPr>
              <a:t>() </a:t>
            </a:r>
            <a:r>
              <a:rPr lang="en-US" sz="1100" b="1">
                <a:solidFill>
                  <a:srgbClr val="222222"/>
                </a:solidFill>
                <a:latin typeface="맑은 고딕"/>
                <a:sym typeface="Wingdings" pitchFamily="2" charset="2"/>
              </a:rPr>
              <a:t></a:t>
            </a:r>
            <a:r>
              <a:rPr lang="en-US" sz="1100" b="1">
                <a:solidFill>
                  <a:srgbClr val="222222"/>
                </a:solidFill>
                <a:latin typeface="맑은 고딕"/>
              </a:rPr>
              <a:t> ACTIVE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2630454"/>
            <a:ext cx="27432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849797"/>
            <a:ext cx="4297680" cy="4114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2849797"/>
            <a:ext cx="91440" cy="4114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2975470"/>
            <a:ext cx="155012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err="1">
                <a:solidFill>
                  <a:srgbClr val="222222"/>
                </a:solidFill>
                <a:latin typeface="맑은 고딕"/>
              </a:rPr>
              <a:t>MonitorService.start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67738"/>
            <a:ext cx="27432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565639"/>
            <a:ext cx="4297680" cy="4114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565639"/>
            <a:ext cx="91440" cy="4114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691312"/>
            <a:ext cx="2257697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err="1">
                <a:solidFill>
                  <a:srgbClr val="222222"/>
                </a:solidFill>
                <a:latin typeface="맑은 고딕"/>
              </a:rPr>
              <a:t>각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 *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MonitorService.startService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079664"/>
            <a:ext cx="27432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304073"/>
            <a:ext cx="4297680" cy="4114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4304073"/>
            <a:ext cx="91440" cy="4114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429746"/>
            <a:ext cx="236655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err="1">
                <a:solidFill>
                  <a:srgbClr val="222222"/>
                </a:solidFill>
                <a:latin typeface="맑은 고딕"/>
              </a:rPr>
              <a:t>Monitor.determineMonitorMode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845665"/>
            <a:ext cx="27432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067217"/>
            <a:ext cx="4297680" cy="4114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5067217"/>
            <a:ext cx="91440" cy="4114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192890"/>
            <a:ext cx="155012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→ ACTIVE 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모드로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동작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0" y="1546777"/>
            <a:ext cx="5989320" cy="452628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1546777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1683937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ACTIVE 모니터의 동작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09541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A844"/>
                </a:solidFill>
                <a:latin typeface="맑은 고딕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9541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8F2"/>
                </a:solidFill>
                <a:latin typeface="맑은 고딕"/>
              </a:rPr>
              <a:t>장치와 정상 통신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3880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0B6BE"/>
                </a:solidFill>
                <a:latin typeface="맑은 고딕"/>
              </a:rPr>
              <a:t>수집값을 Kafka 로 전송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82693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A844"/>
                </a:solidFill>
                <a:latin typeface="맑은 고딕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2693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8F2"/>
                </a:solidFill>
                <a:latin typeface="맑은 고딕"/>
              </a:rPr>
              <a:t>DeviceEventReceiveService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1195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0B6BE"/>
                </a:solidFill>
                <a:latin typeface="맑은 고딕"/>
              </a:rPr>
              <a:t>트랩 / 이벤트 수신 활성화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55845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A844"/>
                </a:solidFill>
                <a:latin typeface="맑은 고딕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55845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8F2"/>
                </a:solidFill>
                <a:latin typeface="맑은 고딕"/>
              </a:rPr>
              <a:t>DeviceConnectionStatusUpdater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851065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0B6BE"/>
                </a:solidFill>
                <a:latin typeface="맑은 고딕"/>
              </a:rPr>
              <a:t>연결 상태를 DB에 갱신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28997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A844"/>
                </a:solidFill>
                <a:latin typeface="맑은 고딕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28997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8F2"/>
                </a:solidFill>
                <a:latin typeface="맑은 고딕"/>
              </a:rPr>
              <a:t>AlarmCheckService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582585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0B6BE"/>
                </a:solidFill>
                <a:latin typeface="맑은 고딕"/>
              </a:rPr>
              <a:t>알람 정책 검사 활성화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02149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A844"/>
                </a:solidFill>
                <a:latin typeface="맑은 고딕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02149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8F2"/>
                </a:solidFill>
                <a:latin typeface="맑은 고딕"/>
              </a:rPr>
              <a:t>Control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314105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0B6BE"/>
                </a:solidFill>
                <a:latin typeface="맑은 고딕"/>
              </a:rPr>
              <a:t>사용자 제어 명령 수행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제목 50">
            <a:extLst>
              <a:ext uri="{FF2B5EF4-FFF2-40B4-BE49-F238E27FC236}">
                <a16:creationId xmlns:a16="http://schemas.microsoft.com/office/drawing/2014/main" id="{FF341ED5-739F-9095-91C4-78BA2C2E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222222"/>
                </a:solidFill>
              </a:rPr>
              <a:t>ACTIVE</a:t>
            </a:r>
            <a:r>
              <a:rPr lang="ko-KR" altLang="en-US" err="1">
                <a:solidFill>
                  <a:srgbClr val="222222"/>
                </a:solidFill>
              </a:rPr>
              <a:t>를</a:t>
            </a:r>
            <a:r>
              <a:rPr lang="ko-KR" altLang="en-US">
                <a:solidFill>
                  <a:srgbClr val="222222"/>
                </a:solidFill>
              </a:rPr>
              <a:t> 받았을 때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DeviceInterface 옵션에 따라 결정 — Monitor가 자기 monitorMode를 보고 동작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4666"/>
            <a:ext cx="11091672" cy="5486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466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8F8F2"/>
                </a:solidFill>
                <a:latin typeface="맑은 고딕"/>
              </a:rPr>
              <a:t>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04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8F8F2"/>
                </a:solidFill>
                <a:latin typeface="맑은 고딕"/>
              </a:rPr>
              <a:t>세션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504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8F8F2"/>
                </a:solidFill>
                <a:latin typeface="맑은 고딕"/>
              </a:rPr>
              <a:t>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04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8F8F2"/>
                </a:solidFill>
                <a:latin typeface="맑은 고딕"/>
              </a:rPr>
              <a:t>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504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8F8F2"/>
                </a:solidFill>
                <a:latin typeface="맑은 고딕"/>
              </a:rPr>
              <a:t>저장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5330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053306"/>
            <a:ext cx="91440" cy="548640"/>
          </a:xfrm>
          <a:prstGeom prst="rect">
            <a:avLst/>
          </a:prstGeom>
          <a:solidFill>
            <a:srgbClr val="6C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05330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STANDBY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330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5330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05330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5330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47666"/>
            <a:ext cx="11091672" cy="548640"/>
          </a:xfrm>
          <a:prstGeom prst="rect">
            <a:avLst/>
          </a:prstGeom>
          <a:solidFill>
            <a:srgbClr val="F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2647666"/>
            <a:ext cx="91440" cy="5486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64766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REDUNDANT_CONNECTION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47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647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47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C7580"/>
                </a:solidFill>
                <a:latin typeface="맑은 고딕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4766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24202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242026"/>
            <a:ext cx="91440" cy="5486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24202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REDUNDANT_MONITOR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24202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24202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24202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4202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36386"/>
            <a:ext cx="11091672" cy="548640"/>
          </a:xfrm>
          <a:prstGeom prst="rect">
            <a:avLst/>
          </a:prstGeom>
          <a:solidFill>
            <a:srgbClr val="F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3836386"/>
            <a:ext cx="91440" cy="548640"/>
          </a:xfrm>
          <a:prstGeom prst="rect">
            <a:avLst/>
          </a:prstGeom>
          <a:solidFill>
            <a:srgbClr val="2EA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018373"/>
            <a:ext cx="3520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3638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83638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83638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83638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EA844"/>
                </a:solidFill>
                <a:latin typeface="맑은 고딕"/>
              </a:rPr>
              <a:t>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13626"/>
            <a:ext cx="5532120" cy="169164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4613626"/>
            <a:ext cx="91440" cy="16916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4705066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REDUNDANT_CONNECTION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025106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세션(소켓/연결)만 유지하고 수집 요청은 보내지 않음.
ACTIVE 승격 시 연결 수립 시간을 절약하기 위함.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613626"/>
            <a:ext cx="5532120" cy="169164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0" y="4613626"/>
            <a:ext cx="91440" cy="16916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4705066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REDUNDANT_MONITOR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025106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err="1">
                <a:solidFill>
                  <a:srgbClr val="333333"/>
                </a:solidFill>
                <a:latin typeface="맑은 고딕"/>
              </a:rPr>
              <a:t>ACTIVE와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동일하게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세션·요청·응답까지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수행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.
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단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저장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(Redis/Kafka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흘려보내기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)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을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하지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err="1">
                <a:solidFill>
                  <a:srgbClr val="333333"/>
                </a:solidFill>
                <a:latin typeface="맑은 고딕"/>
              </a:rPr>
              <a:t>않음</a:t>
            </a:r>
            <a:r>
              <a:rPr sz="1100" b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제목 50">
            <a:extLst>
              <a:ext uri="{FF2B5EF4-FFF2-40B4-BE49-F238E27FC236}">
                <a16:creationId xmlns:a16="http://schemas.microsoft.com/office/drawing/2014/main" id="{7C5E6E59-48D7-5451-2EB3-DC03311B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222222"/>
                </a:solidFill>
              </a:rPr>
              <a:t>STANDBY </a:t>
            </a:r>
            <a:r>
              <a:rPr lang="ko-KR" altLang="en-US">
                <a:solidFill>
                  <a:srgbClr val="222222"/>
                </a:solidFill>
              </a:rPr>
              <a:t>모드의 </a:t>
            </a:r>
            <a:r>
              <a:rPr lang="en-US" altLang="ko-KR">
                <a:solidFill>
                  <a:srgbClr val="222222"/>
                </a:solidFill>
              </a:rPr>
              <a:t>4</a:t>
            </a:r>
            <a:r>
              <a:rPr lang="ko-KR" altLang="en-US">
                <a:solidFill>
                  <a:srgbClr val="222222"/>
                </a:solidFill>
              </a:rPr>
              <a:t>가지 상태</a:t>
            </a: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런타임에 역할이 바뀌면 어떻게 다시 호출되는가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5440680" cy="21945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21945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96079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STANDBY → ACTIVE 승격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6183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전체 수집 모드로 재호출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10479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Monitor.monitorMode 재계산
• Event/Status 서비스 활성화
• 이미 연결 유지 중이면 즉시 수집 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8919"/>
            <a:ext cx="5440680" cy="219456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58919"/>
            <a:ext cx="91440" cy="2194560"/>
          </a:xfrm>
          <a:prstGeom prst="rect">
            <a:avLst/>
          </a:prstGeom>
          <a:solidFill>
            <a:srgbClr val="6C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696079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C7580"/>
                </a:solidFill>
                <a:latin typeface="맑은 고딕"/>
              </a:rPr>
              <a:t>ACTIVE → STANDBY 강등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6183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제한 모드로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0479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Monitor.monitorMode 재계산
• Event/Status 서비스 정지
• 옵션에 따라 연결만 유지 또는 통신 중단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6359"/>
            <a:ext cx="11091672" cy="210312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936359"/>
            <a:ext cx="91440" cy="21031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73519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A54D"/>
                </a:solidFill>
                <a:latin typeface="맑은 고딕"/>
              </a:rPr>
              <a:t>한 줄 핵심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30719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8F8F2"/>
                </a:solidFill>
                <a:latin typeface="맑은 고딕"/>
              </a:rPr>
              <a:t>MonitorService 호출 자체는 ACTIVE/STANDBY 모두 동일하다.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6519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B0B6BE"/>
                </a:solidFill>
                <a:latin typeface="맑은 고딕"/>
              </a:rPr>
              <a:t>다른 건 각 Monitor가 자기 monitorMode를 보고 "어디까지 일할지" 스스로 정하는 부분.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제목 25">
            <a:extLst>
              <a:ext uri="{FF2B5EF4-FFF2-40B4-BE49-F238E27FC236}">
                <a16:creationId xmlns:a16="http://schemas.microsoft.com/office/drawing/2014/main" id="{D0F3F31F-BD8F-263B-888C-81FFA548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역할 전환과 핵심 포인트</a:t>
            </a:r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이 분류를 머릿속에 박아두고 디버깅하면 80%가 풀린다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18488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91440" cy="4434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err="1">
                <a:solidFill>
                  <a:srgbClr val="222222"/>
                </a:solidFill>
                <a:latin typeface="맑은 고딕"/>
              </a:rPr>
              <a:t>Checkvalue</a:t>
            </a:r>
            <a:endParaRPr sz="32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59" y="3035808"/>
            <a:ext cx="3200400" cy="18288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맑은 고딕"/>
              </a:rPr>
              <a:t>전압·온도·상태값 등
주기적으로 폴링하여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15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6D09"/>
                </a:solidFill>
                <a:latin typeface="맑은 고딕"/>
              </a:rPr>
              <a:t>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90288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333333"/>
                </a:solidFill>
                <a:latin typeface="맑은 고딕"/>
              </a:rPr>
              <a:t>양방향</a:t>
            </a:r>
            <a:endParaRPr sz="1200" b="1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50474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6D09"/>
                </a:solidFill>
                <a:latin typeface="맑은 고딕"/>
              </a:rPr>
              <a:t>Kafka 토픽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" y="532180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F6D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5420049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00" b="1" err="1">
                <a:solidFill>
                  <a:srgbClr val="222222"/>
                </a:solidFill>
                <a:latin typeface="맑은 고딕"/>
              </a:rPr>
              <a:t>liz.checkvalue.topic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89120" y="1618488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1618488"/>
            <a:ext cx="91440" cy="4434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2121408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>
                <a:solidFill>
                  <a:srgbClr val="222222"/>
                </a:solidFill>
                <a:latin typeface="맑은 고딕"/>
              </a:rPr>
              <a:t>Trap</a:t>
            </a:r>
            <a:endParaRPr sz="32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63440" y="3035808"/>
            <a:ext cx="3200400" cy="18288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21868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err="1">
                <a:solidFill>
                  <a:srgbClr val="333333"/>
                </a:solidFill>
                <a:latin typeface="맑은 고딕"/>
              </a:rPr>
              <a:t>장치가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스스로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보내는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
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비동기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이벤트·알람</a:t>
            </a:r>
            <a:endParaRPr sz="12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4315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A54D"/>
                </a:solidFill>
                <a:latin typeface="맑은 고딕"/>
              </a:rPr>
              <a:t>방향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90288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333333"/>
                </a:solidFill>
                <a:latin typeface="맑은 고딕"/>
              </a:rPr>
              <a:t>장비</a:t>
            </a:r>
            <a:r>
              <a:rPr sz="1200" b="1">
                <a:solidFill>
                  <a:srgbClr val="333333"/>
                </a:solidFill>
                <a:latin typeface="맑은 고딕"/>
              </a:rPr>
              <a:t> → </a:t>
            </a:r>
            <a:r>
              <a:rPr lang="en-US" sz="1200" b="1">
                <a:solidFill>
                  <a:srgbClr val="333333"/>
                </a:solidFill>
                <a:latin typeface="맑은 고딕"/>
              </a:rPr>
              <a:t>Collector</a:t>
            </a:r>
            <a:endParaRPr sz="1200" b="1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50474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A54D"/>
                </a:solidFill>
                <a:latin typeface="맑은 고딕"/>
              </a:rPr>
              <a:t>Kafka 토픽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532180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FA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532180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alarm 관련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618488"/>
            <a:ext cx="3657600" cy="44348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1618488"/>
            <a:ext cx="91440" cy="4434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2121408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>
                <a:solidFill>
                  <a:srgbClr val="F8F8F2"/>
                </a:solidFill>
                <a:latin typeface="맑은 고딕"/>
              </a:rPr>
              <a:t>Pipeline</a:t>
            </a:r>
            <a:endParaRPr sz="3200" b="1">
              <a:solidFill>
                <a:srgbClr val="F8F8F2"/>
              </a:solidFill>
              <a:latin typeface="맑은 고딕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503920" y="3035808"/>
            <a:ext cx="3200400" cy="18288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321868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err="1">
                <a:solidFill>
                  <a:srgbClr val="B0B6BE"/>
                </a:solidFill>
                <a:latin typeface="맑은 고딕"/>
              </a:rPr>
              <a:t>장비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추가·제어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요청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등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
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명령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통지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메시지</a:t>
            </a:r>
            <a:endParaRPr sz="1200" b="0">
              <a:solidFill>
                <a:srgbClr val="B0B6BE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4315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A54D"/>
                </a:solidFill>
                <a:latin typeface="맑은 고딕"/>
              </a:rPr>
              <a:t>방향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5902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0B6BE"/>
                </a:solidFill>
                <a:latin typeface="맑은 고딕"/>
              </a:rPr>
              <a:t>양방향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474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A54D"/>
                </a:solidFill>
                <a:latin typeface="맑은 고딕"/>
              </a:rPr>
              <a:t>Kafka 토픽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21808"/>
            <a:ext cx="3200400" cy="365760"/>
          </a:xfrm>
          <a:prstGeom prst="rect">
            <a:avLst/>
          </a:prstGeom>
          <a:solidFill>
            <a:srgbClr val="2C3A4B"/>
          </a:solidFill>
          <a:ln w="6350">
            <a:solidFill>
              <a:srgbClr val="FFA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532180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8F8F2"/>
                </a:solidFill>
                <a:latin typeface="맑은 고딕"/>
              </a:rPr>
              <a:t>liz.message.pipeline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제목 43">
            <a:extLst>
              <a:ext uri="{FF2B5EF4-FFF2-40B4-BE49-F238E27FC236}">
                <a16:creationId xmlns:a16="http://schemas.microsoft.com/office/drawing/2014/main" id="{649E7F67-12AB-D6FD-6B0F-DC58A01B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데이터 </a:t>
            </a:r>
            <a:r>
              <a:rPr lang="en-US" altLang="ko-KR">
                <a:solidFill>
                  <a:srgbClr val="222222"/>
                </a:solidFill>
              </a:rPr>
              <a:t>3</a:t>
            </a:r>
            <a:r>
              <a:rPr lang="ko-KR" altLang="en-US">
                <a:solidFill>
                  <a:srgbClr val="222222"/>
                </a:solidFill>
              </a:rPr>
              <a:t>종 분류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장치 폴링 → Redis 캐시 → Kafka → Loader → ClickHouse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18488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91440" cy="12801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장치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TCP/SNMP/REST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1618488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95728" y="1618488"/>
            <a:ext cx="91440" cy="12801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78608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Driver가 응답 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618488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2816" y="1618488"/>
            <a:ext cx="91440" cy="12801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25696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CheckValueCacheService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Redis (최신값)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2744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904" y="1618488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9904" y="1618488"/>
            <a:ext cx="91440" cy="12801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2784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Streaming →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checkvalue 토픽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1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6992" y="1618488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36992" y="1618488"/>
            <a:ext cx="91440" cy="12801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9871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Loader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1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토픽 구독 → 적재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19" y="21214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618488"/>
            <a:ext cx="1755648" cy="128016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18488"/>
            <a:ext cx="91440" cy="12801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9" y="1801368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8F8F2"/>
                </a:solidFill>
                <a:latin typeface="맑은 고딕"/>
              </a:rPr>
              <a:t>ClickHouse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2212848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0B6BE"/>
                </a:solidFill>
                <a:latin typeface="맑은 고딕"/>
              </a:rPr>
              <a:t>시계열 저장 / 차트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55848"/>
            <a:ext cx="3657600" cy="137160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355848"/>
            <a:ext cx="91440" cy="13716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35387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6D09"/>
                </a:solidFill>
                <a:latin typeface="맑은 고딕"/>
              </a:rPr>
              <a:t>왜 Redis?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95020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현재값 조회는 DB 안 가도 됨. 화면 즉시 응답.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355848"/>
            <a:ext cx="3657600" cy="137160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9120" y="3355848"/>
            <a:ext cx="91440" cy="13716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35387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6D09"/>
                </a:solidFill>
                <a:latin typeface="맑은 고딕"/>
              </a:rPr>
              <a:t>왜 Kafka?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395020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DB 직결이면 DB 장애가 수집까지 멈춤. 버퍼 역할.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355848"/>
            <a:ext cx="3657600" cy="1371600"/>
          </a:xfrm>
          <a:prstGeom prst="rect">
            <a:avLst/>
          </a:prstGeom>
          <a:solidFill>
            <a:srgbClr val="FFF1E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0" y="3355848"/>
            <a:ext cx="91440" cy="137160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35387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6D09"/>
                </a:solidFill>
                <a:latin typeface="맑은 고딕"/>
              </a:rPr>
              <a:t>왜 ClickHouse?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95020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</a:rPr>
              <a:t>시계열은 컬럼 지향 DB가 빠름. Loader가 batch 적재.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956048"/>
            <a:ext cx="11091672" cy="10058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4956048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5047488"/>
            <a:ext cx="11091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err="1">
                <a:solidFill>
                  <a:srgbClr val="FFA54D"/>
                </a:solidFill>
                <a:latin typeface="맑은 고딕"/>
              </a:rPr>
              <a:t>최신값</a:t>
            </a:r>
            <a:r>
              <a:rPr sz="1400" b="1">
                <a:solidFill>
                  <a:srgbClr val="FFA54D"/>
                </a:solidFill>
                <a:latin typeface="맑은 고딕"/>
              </a:rPr>
              <a:t> = Redis         </a:t>
            </a:r>
            <a:r>
              <a:rPr sz="1400" b="1" err="1">
                <a:solidFill>
                  <a:srgbClr val="FFA54D"/>
                </a:solidFill>
                <a:latin typeface="맑은 고딕"/>
              </a:rPr>
              <a:t>시계열</a:t>
            </a:r>
            <a:r>
              <a:rPr sz="1400" b="1">
                <a:solidFill>
                  <a:srgbClr val="FFA54D"/>
                </a:solidFill>
                <a:latin typeface="맑은 고딕"/>
              </a:rPr>
              <a:t> </a:t>
            </a:r>
            <a:r>
              <a:rPr sz="1400" b="1" err="1">
                <a:solidFill>
                  <a:srgbClr val="FFA54D"/>
                </a:solidFill>
                <a:latin typeface="맑은 고딕"/>
              </a:rPr>
              <a:t>이력</a:t>
            </a:r>
            <a:r>
              <a:rPr sz="1400" b="1">
                <a:solidFill>
                  <a:srgbClr val="FFA54D"/>
                </a:solidFill>
                <a:latin typeface="맑은 고딕"/>
              </a:rPr>
              <a:t> = </a:t>
            </a:r>
            <a:r>
              <a:rPr sz="1400" b="1" err="1">
                <a:solidFill>
                  <a:srgbClr val="FFA54D"/>
                </a:solidFill>
                <a:latin typeface="맑은 고딕"/>
              </a:rPr>
              <a:t>ClickHouse</a:t>
            </a:r>
            <a:endParaRPr sz="1400" b="1">
              <a:solidFill>
                <a:srgbClr val="FFA54D"/>
              </a:solidFill>
              <a:latin typeface="맑은 고딕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8640" y="545896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B6BE"/>
                </a:solidFill>
                <a:latin typeface="맑은 고딕"/>
              </a:rPr>
              <a:t>역할이 명확하게 분리되어, 각자 잘하는 일에 집중한다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제목 55">
            <a:extLst>
              <a:ext uri="{FF2B5EF4-FFF2-40B4-BE49-F238E27FC236}">
                <a16:creationId xmlns:a16="http://schemas.microsoft.com/office/drawing/2014/main" id="{C63142F4-A9D7-60E1-8A8A-D07D0DDC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solidFill>
                  <a:srgbClr val="222222"/>
                </a:solidFill>
              </a:rPr>
              <a:t>수집값</a:t>
            </a:r>
            <a:r>
              <a:rPr lang="en-US" altLang="ko-KR">
                <a:solidFill>
                  <a:srgbClr val="222222"/>
                </a:solidFill>
              </a:rPr>
              <a:t>(</a:t>
            </a:r>
            <a:r>
              <a:rPr lang="en" altLang="ko-KR" err="1">
                <a:solidFill>
                  <a:srgbClr val="222222"/>
                </a:solidFill>
              </a:rPr>
              <a:t>CheckValue</a:t>
            </a:r>
            <a:r>
              <a:rPr lang="en" altLang="ko-KR">
                <a:solidFill>
                  <a:srgbClr val="222222"/>
                </a:solidFill>
              </a:rPr>
              <a:t>) </a:t>
            </a:r>
            <a:r>
              <a:rPr lang="ko-KR" altLang="en-US">
                <a:solidFill>
                  <a:srgbClr val="222222"/>
                </a:solidFill>
              </a:rPr>
              <a:t>흐름</a:t>
            </a:r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장치가 스스로 신호를 보내는 경우 — 대표 예: SNMP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4772"/>
            <a:ext cx="110916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4772"/>
            <a:ext cx="91440" cy="8686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84664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929044"/>
            <a:ext cx="61831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b="1">
                <a:solidFill>
                  <a:srgbClr val="222222"/>
                </a:solidFill>
                <a:latin typeface="맑은 고딕"/>
              </a:rPr>
              <a:t>장비</a:t>
            </a:r>
            <a:endParaRPr sz="18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59" y="1696212"/>
            <a:ext cx="60624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SNMP Trap 패킷 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4892"/>
            <a:ext cx="11091672" cy="86868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64892"/>
            <a:ext cx="91440" cy="8686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844784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7990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DeviceEventReceiveService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656332"/>
            <a:ext cx="60624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트랩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수신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후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큐로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전달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525012"/>
            <a:ext cx="110916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525012"/>
            <a:ext cx="91440" cy="86868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804904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A54D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75918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err="1">
                <a:solidFill>
                  <a:srgbClr val="222222"/>
                </a:solidFill>
                <a:latin typeface="맑은 고딕"/>
              </a:rPr>
              <a:t>AlarmCheckService</a:t>
            </a:r>
            <a:endParaRPr sz="18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94959" y="3616452"/>
            <a:ext cx="60624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6C7580"/>
                </a:solidFill>
                <a:latin typeface="맑은 고딕"/>
              </a:rPr>
              <a:t>알람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정책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비교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발생·해제</a:t>
            </a:r>
            <a:r>
              <a:rPr sz="12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6C7580"/>
                </a:solidFill>
                <a:latin typeface="맑은 고딕"/>
              </a:rPr>
              <a:t>판단</a:t>
            </a:r>
            <a:endParaRPr sz="12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485132"/>
            <a:ext cx="11091672" cy="86868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485132"/>
            <a:ext cx="91440" cy="8686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751308"/>
            <a:ext cx="731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A54D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780972"/>
            <a:ext cx="10646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8F8F2"/>
                </a:solidFill>
                <a:latin typeface="맑은 고딕"/>
              </a:rPr>
              <a:t>MariaDB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576572"/>
            <a:ext cx="60624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B0B6BE"/>
                </a:solidFill>
                <a:latin typeface="맑은 고딕"/>
              </a:rPr>
              <a:t>알람을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DB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에</a:t>
            </a:r>
            <a:r>
              <a:rPr sz="12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B0B6BE"/>
                </a:solidFill>
                <a:latin typeface="맑은 고딕"/>
              </a:rPr>
              <a:t>저장</a:t>
            </a:r>
            <a:endParaRPr sz="1200" b="0">
              <a:solidFill>
                <a:srgbClr val="B0B6BE"/>
              </a:solidFill>
              <a:latin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제목 33">
            <a:extLst>
              <a:ext uri="{FF2B5EF4-FFF2-40B4-BE49-F238E27FC236}">
                <a16:creationId xmlns:a16="http://schemas.microsoft.com/office/drawing/2014/main" id="{1654FB04-C7DC-88EC-C47B-F0BC8353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트랩</a:t>
            </a:r>
            <a:r>
              <a:rPr lang="en-US" altLang="ko-KR">
                <a:solidFill>
                  <a:srgbClr val="222222"/>
                </a:solidFill>
              </a:rPr>
              <a:t>(</a:t>
            </a:r>
            <a:r>
              <a:rPr lang="en" altLang="ko-KR">
                <a:solidFill>
                  <a:srgbClr val="222222"/>
                </a:solidFill>
              </a:rPr>
              <a:t>Trap) </a:t>
            </a:r>
            <a:r>
              <a:rPr lang="ko-KR" altLang="en-US">
                <a:solidFill>
                  <a:srgbClr val="222222"/>
                </a:solidFill>
              </a:rPr>
              <a:t>흐름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사용자 클릭부터 장치 응답까지 — 같은 폴링 루프와 같은 TCP 연결을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Admin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사용자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67128" y="1558919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4288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Kafka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REQUEST 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5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85615" y="1558919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22776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CollectorMessageService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수신·파싱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4104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4104" y="1558919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41264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MonitorService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execControlRequest()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2592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22592" y="1558919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9752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Driver controlQueue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enqueue (max 2,000)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1558919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41080" y="1558919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0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폴링 루프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다음 사이클에서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72" y="1833239"/>
            <a:ext cx="137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59568" y="1558919"/>
            <a:ext cx="1554480" cy="10058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59568" y="1558919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96728" y="169607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8F8F2"/>
                </a:solidFill>
                <a:latin typeface="맑은 고딕"/>
              </a:rPr>
              <a:t>장치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6728" y="2061839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6BE"/>
                </a:solidFill>
                <a:latin typeface="맑은 고딕"/>
              </a:rPr>
              <a:t>쓰기 패킷 송수신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839078"/>
            <a:ext cx="167335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err="1">
                <a:solidFill>
                  <a:srgbClr val="6C7580"/>
                </a:solidFill>
                <a:latin typeface="맑은 고딕"/>
              </a:rPr>
              <a:t>응답</a:t>
            </a:r>
            <a:r>
              <a:rPr sz="1100" b="1">
                <a:solidFill>
                  <a:srgbClr val="6C7580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6C7580"/>
                </a:solidFill>
                <a:latin typeface="맑은 고딕"/>
              </a:rPr>
              <a:t>경로</a:t>
            </a:r>
            <a:r>
              <a:rPr sz="1100" b="1">
                <a:solidFill>
                  <a:srgbClr val="6C7580"/>
                </a:solidFill>
                <a:latin typeface="맑은 고딕"/>
              </a:rPr>
              <a:t> (</a:t>
            </a:r>
            <a:r>
              <a:rPr sz="1100" b="1" err="1">
                <a:solidFill>
                  <a:srgbClr val="6C7580"/>
                </a:solidFill>
                <a:latin typeface="맑은 고딕"/>
              </a:rPr>
              <a:t>reply.pipeline</a:t>
            </a:r>
            <a:r>
              <a:rPr sz="1000" b="1">
                <a:solidFill>
                  <a:srgbClr val="6C7580"/>
                </a:solidFill>
                <a:latin typeface="맑은 고딕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93559"/>
            <a:ext cx="11091672" cy="150876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48640" y="4393559"/>
            <a:ext cx="91440" cy="15087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484999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A54D"/>
                </a:solidFill>
                <a:latin typeface="맑은 고딕"/>
              </a:rPr>
              <a:t>핵심 — REQUEST/RESPONSE 방식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896479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8F8F2"/>
                </a:solidFill>
                <a:latin typeface="맑은 고딕"/>
              </a:rPr>
              <a:t>최대 10초 응답 대기, 같은 TCP 연결로 수집과 함께 처리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445119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B6BE"/>
                </a:solidFill>
                <a:latin typeface="맑은 고딕"/>
              </a:rPr>
              <a:t>별도의 통신 채널을 만들지 않는다 — 폴링 루프가 controlQueue 우선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제목 54">
            <a:extLst>
              <a:ext uri="{FF2B5EF4-FFF2-40B4-BE49-F238E27FC236}">
                <a16:creationId xmlns:a16="http://schemas.microsoft.com/office/drawing/2014/main" id="{4FF2773E-C8E9-9505-F385-D6BF817F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제어</a:t>
            </a:r>
            <a:r>
              <a:rPr lang="en-US" altLang="ko-KR">
                <a:solidFill>
                  <a:srgbClr val="222222"/>
                </a:solidFill>
              </a:rPr>
              <a:t>(</a:t>
            </a:r>
            <a:r>
              <a:rPr lang="en" altLang="ko-KR">
                <a:solidFill>
                  <a:srgbClr val="222222"/>
                </a:solidFill>
              </a:rPr>
              <a:t>Control) </a:t>
            </a:r>
            <a:r>
              <a:rPr lang="ko-KR" altLang="en-US">
                <a:solidFill>
                  <a:srgbClr val="222222"/>
                </a:solidFill>
              </a:rPr>
              <a:t>흐름</a:t>
            </a:r>
            <a:endParaRPr lang="ko-KR" altLang="en-US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9D8AF40B-90AC-A219-796F-FF6A18676F8A}"/>
              </a:ext>
            </a:extLst>
          </p:cNvPr>
          <p:cNvSpPr/>
          <p:nvPr/>
        </p:nvSpPr>
        <p:spPr>
          <a:xfrm>
            <a:off x="8715102" y="3127418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8">
            <a:extLst>
              <a:ext uri="{FF2B5EF4-FFF2-40B4-BE49-F238E27FC236}">
                <a16:creationId xmlns:a16="http://schemas.microsoft.com/office/drawing/2014/main" id="{B7904C14-AB57-D0FF-70D3-D6B6AF555C68}"/>
              </a:ext>
            </a:extLst>
          </p:cNvPr>
          <p:cNvSpPr/>
          <p:nvPr/>
        </p:nvSpPr>
        <p:spPr>
          <a:xfrm>
            <a:off x="8715102" y="3127418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B9A3C4-48C8-104A-A74A-FFCAB0C73B44}"/>
              </a:ext>
            </a:extLst>
          </p:cNvPr>
          <p:cNvSpPr txBox="1"/>
          <p:nvPr/>
        </p:nvSpPr>
        <p:spPr>
          <a:xfrm>
            <a:off x="8852262" y="326457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Admin UI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DDE63-4D90-F38D-0344-59C9A9CAC0BC}"/>
              </a:ext>
            </a:extLst>
          </p:cNvPr>
          <p:cNvSpPr txBox="1"/>
          <p:nvPr/>
        </p:nvSpPr>
        <p:spPr>
          <a:xfrm>
            <a:off x="8852262" y="3630338"/>
            <a:ext cx="1371600" cy="160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err="1">
                <a:solidFill>
                  <a:srgbClr val="6C7580"/>
                </a:solidFill>
                <a:latin typeface="맑은 고딕"/>
              </a:rPr>
              <a:t>사용자</a:t>
            </a:r>
            <a:r>
              <a:rPr sz="900" b="0">
                <a:solidFill>
                  <a:srgbClr val="6C7580"/>
                </a:solidFill>
                <a:latin typeface="맑은 고딕"/>
              </a:rPr>
              <a:t> </a:t>
            </a:r>
            <a:r>
              <a:rPr lang="ko-KR" altLang="en-US" sz="900">
                <a:solidFill>
                  <a:srgbClr val="6C7580"/>
                </a:solidFill>
                <a:latin typeface="맑은 고딕"/>
              </a:rPr>
              <a:t>화면 표시</a:t>
            </a:r>
            <a:endParaRPr sz="9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7F6549-D0D7-3A2C-BAF1-206862E0AD3C}"/>
              </a:ext>
            </a:extLst>
          </p:cNvPr>
          <p:cNvSpPr txBox="1"/>
          <p:nvPr/>
        </p:nvSpPr>
        <p:spPr>
          <a:xfrm>
            <a:off x="8596011" y="3538005"/>
            <a:ext cx="137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F6D09"/>
                </a:solidFill>
                <a:latin typeface="맑은 고딕"/>
              </a:rPr>
              <a:t>▶</a:t>
            </a:r>
            <a:endParaRPr sz="1200" b="1">
              <a:solidFill>
                <a:srgbClr val="FF6D09"/>
              </a:solidFill>
              <a:latin typeface="맑은 고딕"/>
            </a:endParaRPr>
          </a:p>
        </p:txBody>
      </p:sp>
      <p:sp>
        <p:nvSpPr>
          <p:cNvPr id="62" name="Rectangle 12">
            <a:extLst>
              <a:ext uri="{FF2B5EF4-FFF2-40B4-BE49-F238E27FC236}">
                <a16:creationId xmlns:a16="http://schemas.microsoft.com/office/drawing/2014/main" id="{C89322BF-4DC2-E5F4-98C7-50EC91DBC537}"/>
              </a:ext>
            </a:extLst>
          </p:cNvPr>
          <p:cNvSpPr/>
          <p:nvPr/>
        </p:nvSpPr>
        <p:spPr>
          <a:xfrm>
            <a:off x="5445904" y="3127418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13">
            <a:extLst>
              <a:ext uri="{FF2B5EF4-FFF2-40B4-BE49-F238E27FC236}">
                <a16:creationId xmlns:a16="http://schemas.microsoft.com/office/drawing/2014/main" id="{9B2797C6-67A8-C891-614B-93EA6CCF123D}"/>
              </a:ext>
            </a:extLst>
          </p:cNvPr>
          <p:cNvSpPr/>
          <p:nvPr/>
        </p:nvSpPr>
        <p:spPr>
          <a:xfrm>
            <a:off x="5445904" y="3127418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5E19F7-439B-104C-79D6-51A5B2EECE1F}"/>
              </a:ext>
            </a:extLst>
          </p:cNvPr>
          <p:cNvSpPr txBox="1"/>
          <p:nvPr/>
        </p:nvSpPr>
        <p:spPr>
          <a:xfrm>
            <a:off x="5583064" y="326457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Kafka pipeline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EABE05-AFE4-A631-EF8C-0EEF74BA21D2}"/>
              </a:ext>
            </a:extLst>
          </p:cNvPr>
          <p:cNvSpPr txBox="1"/>
          <p:nvPr/>
        </p:nvSpPr>
        <p:spPr>
          <a:xfrm>
            <a:off x="5583064" y="3630338"/>
            <a:ext cx="1371600" cy="160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C7580"/>
                </a:solidFill>
                <a:latin typeface="맑은 고딕"/>
              </a:rPr>
              <a:t>RE</a:t>
            </a:r>
            <a:r>
              <a:rPr lang="en-US" sz="900" b="0">
                <a:solidFill>
                  <a:srgbClr val="6C7580"/>
                </a:solidFill>
                <a:latin typeface="맑은 고딕"/>
              </a:rPr>
              <a:t>SPONSE</a:t>
            </a:r>
            <a:r>
              <a:rPr sz="9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900" b="0" err="1">
                <a:solidFill>
                  <a:srgbClr val="6C7580"/>
                </a:solidFill>
                <a:latin typeface="맑은 고딕"/>
              </a:rPr>
              <a:t>메시지</a:t>
            </a:r>
            <a:endParaRPr sz="9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F17692-AA74-6622-B1B3-CEBD4A4C6C48}"/>
              </a:ext>
            </a:extLst>
          </p:cNvPr>
          <p:cNvSpPr txBox="1"/>
          <p:nvPr/>
        </p:nvSpPr>
        <p:spPr>
          <a:xfrm>
            <a:off x="6982096" y="3538005"/>
            <a:ext cx="137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5E30EACF-4222-B079-550A-740E4F97812D}"/>
              </a:ext>
            </a:extLst>
          </p:cNvPr>
          <p:cNvSpPr/>
          <p:nvPr/>
        </p:nvSpPr>
        <p:spPr>
          <a:xfrm>
            <a:off x="7064391" y="3127418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18">
            <a:extLst>
              <a:ext uri="{FF2B5EF4-FFF2-40B4-BE49-F238E27FC236}">
                <a16:creationId xmlns:a16="http://schemas.microsoft.com/office/drawing/2014/main" id="{AA45B6D1-0598-7CB2-913E-07EE7B934C70}"/>
              </a:ext>
            </a:extLst>
          </p:cNvPr>
          <p:cNvSpPr/>
          <p:nvPr/>
        </p:nvSpPr>
        <p:spPr>
          <a:xfrm>
            <a:off x="7064391" y="3127418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2D2E12-FFDA-CEC4-CB63-2060ABC3C42D}"/>
              </a:ext>
            </a:extLst>
          </p:cNvPr>
          <p:cNvSpPr txBox="1"/>
          <p:nvPr/>
        </p:nvSpPr>
        <p:spPr>
          <a:xfrm>
            <a:off x="7201552" y="3264578"/>
            <a:ext cx="1371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err="1">
                <a:solidFill>
                  <a:srgbClr val="222222"/>
                </a:solidFill>
                <a:latin typeface="맑은 고딕"/>
              </a:rPr>
              <a:t>Admin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MessageService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DD3DF3-5930-9110-26EF-923531CB6F4D}"/>
              </a:ext>
            </a:extLst>
          </p:cNvPr>
          <p:cNvSpPr txBox="1"/>
          <p:nvPr/>
        </p:nvSpPr>
        <p:spPr>
          <a:xfrm>
            <a:off x="7201552" y="363033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err="1">
                <a:solidFill>
                  <a:srgbClr val="6C7580"/>
                </a:solidFill>
                <a:latin typeface="맑은 고딕"/>
              </a:rPr>
              <a:t>수신·파싱</a:t>
            </a:r>
            <a:endParaRPr sz="9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71" name="Rectangle 37">
            <a:extLst>
              <a:ext uri="{FF2B5EF4-FFF2-40B4-BE49-F238E27FC236}">
                <a16:creationId xmlns:a16="http://schemas.microsoft.com/office/drawing/2014/main" id="{00A17980-3FD9-3A31-746E-FA297DD1333D}"/>
              </a:ext>
            </a:extLst>
          </p:cNvPr>
          <p:cNvSpPr/>
          <p:nvPr/>
        </p:nvSpPr>
        <p:spPr>
          <a:xfrm>
            <a:off x="530351" y="3138303"/>
            <a:ext cx="1554480" cy="100584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38">
            <a:extLst>
              <a:ext uri="{FF2B5EF4-FFF2-40B4-BE49-F238E27FC236}">
                <a16:creationId xmlns:a16="http://schemas.microsoft.com/office/drawing/2014/main" id="{4529D5B8-4AEC-0EFA-DA75-90CCD921F5DF}"/>
              </a:ext>
            </a:extLst>
          </p:cNvPr>
          <p:cNvSpPr/>
          <p:nvPr/>
        </p:nvSpPr>
        <p:spPr>
          <a:xfrm>
            <a:off x="530351" y="3138303"/>
            <a:ext cx="91440" cy="100584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122945-FBEE-C217-D53D-D1C1C147661E}"/>
              </a:ext>
            </a:extLst>
          </p:cNvPr>
          <p:cNvSpPr txBox="1"/>
          <p:nvPr/>
        </p:nvSpPr>
        <p:spPr>
          <a:xfrm>
            <a:off x="667511" y="32754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err="1">
                <a:solidFill>
                  <a:srgbClr val="F8F8F2"/>
                </a:solidFill>
                <a:latin typeface="맑은 고딕"/>
              </a:rPr>
              <a:t>장치</a:t>
            </a:r>
            <a:endParaRPr sz="1100" b="1">
              <a:solidFill>
                <a:srgbClr val="F8F8F2"/>
              </a:solidFill>
              <a:latin typeface="맑은 고딕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7F0344-BF07-A3F6-D6F6-B00B41A32CC7}"/>
              </a:ext>
            </a:extLst>
          </p:cNvPr>
          <p:cNvSpPr txBox="1"/>
          <p:nvPr/>
        </p:nvSpPr>
        <p:spPr>
          <a:xfrm>
            <a:off x="667511" y="3641223"/>
            <a:ext cx="1371600" cy="160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900" b="0">
                <a:solidFill>
                  <a:srgbClr val="B0B6BE"/>
                </a:solidFill>
                <a:latin typeface="맑은 고딕"/>
              </a:rPr>
              <a:t>응답</a:t>
            </a:r>
            <a:r>
              <a:rPr sz="9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900" b="0" err="1">
                <a:solidFill>
                  <a:srgbClr val="B0B6BE"/>
                </a:solidFill>
                <a:latin typeface="맑은 고딕"/>
              </a:rPr>
              <a:t>패킷</a:t>
            </a:r>
            <a:r>
              <a:rPr sz="900" b="0">
                <a:solidFill>
                  <a:srgbClr val="B0B6BE"/>
                </a:solidFill>
                <a:latin typeface="맑은 고딕"/>
              </a:rPr>
              <a:t> </a:t>
            </a:r>
            <a:r>
              <a:rPr sz="900" b="0" err="1">
                <a:solidFill>
                  <a:srgbClr val="B0B6BE"/>
                </a:solidFill>
                <a:latin typeface="맑은 고딕"/>
              </a:rPr>
              <a:t>송신</a:t>
            </a:r>
            <a:endParaRPr sz="900" b="0">
              <a:solidFill>
                <a:srgbClr val="B0B6BE"/>
              </a:solidFill>
              <a:latin typeface="맑은 고딕"/>
            </a:endParaRPr>
          </a:p>
        </p:txBody>
      </p:sp>
      <p:sp>
        <p:nvSpPr>
          <p:cNvPr id="76" name="Rectangle 12">
            <a:extLst>
              <a:ext uri="{FF2B5EF4-FFF2-40B4-BE49-F238E27FC236}">
                <a16:creationId xmlns:a16="http://schemas.microsoft.com/office/drawing/2014/main" id="{BE3EB356-712C-1131-E169-CD370E93F244}"/>
              </a:ext>
            </a:extLst>
          </p:cNvPr>
          <p:cNvSpPr/>
          <p:nvPr/>
        </p:nvSpPr>
        <p:spPr>
          <a:xfrm>
            <a:off x="2165822" y="3127418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A7399B-1C3E-3E7E-E57B-672B0554EE41}"/>
              </a:ext>
            </a:extLst>
          </p:cNvPr>
          <p:cNvSpPr txBox="1"/>
          <p:nvPr/>
        </p:nvSpPr>
        <p:spPr>
          <a:xfrm>
            <a:off x="2302982" y="326457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>
                <a:solidFill>
                  <a:srgbClr val="222222"/>
                </a:solidFill>
                <a:latin typeface="맑은 고딕"/>
              </a:rPr>
              <a:t>Monitor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E4EB39-7585-3A60-B72A-A410112924E8}"/>
              </a:ext>
            </a:extLst>
          </p:cNvPr>
          <p:cNvSpPr txBox="1"/>
          <p:nvPr/>
        </p:nvSpPr>
        <p:spPr>
          <a:xfrm>
            <a:off x="2299498" y="363033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err="1">
                <a:solidFill>
                  <a:srgbClr val="6C7580"/>
                </a:solidFill>
                <a:latin typeface="맑은 고딕"/>
              </a:rPr>
              <a:t>수신·파싱</a:t>
            </a:r>
            <a:endParaRPr sz="9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81" name="Rectangle 28">
            <a:extLst>
              <a:ext uri="{FF2B5EF4-FFF2-40B4-BE49-F238E27FC236}">
                <a16:creationId xmlns:a16="http://schemas.microsoft.com/office/drawing/2014/main" id="{5BEA9D25-3CEA-BE1A-66FC-541AC4168B3B}"/>
              </a:ext>
            </a:extLst>
          </p:cNvPr>
          <p:cNvSpPr/>
          <p:nvPr/>
        </p:nvSpPr>
        <p:spPr>
          <a:xfrm>
            <a:off x="2180190" y="3126272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12">
            <a:extLst>
              <a:ext uri="{FF2B5EF4-FFF2-40B4-BE49-F238E27FC236}">
                <a16:creationId xmlns:a16="http://schemas.microsoft.com/office/drawing/2014/main" id="{CB5B605A-52EA-5278-5EE9-7B473ACB82F3}"/>
              </a:ext>
            </a:extLst>
          </p:cNvPr>
          <p:cNvSpPr/>
          <p:nvPr/>
        </p:nvSpPr>
        <p:spPr>
          <a:xfrm>
            <a:off x="3798679" y="3127418"/>
            <a:ext cx="1554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FCFFAC-78E3-8859-DDD6-20A1B06F0A9A}"/>
              </a:ext>
            </a:extLst>
          </p:cNvPr>
          <p:cNvSpPr txBox="1"/>
          <p:nvPr/>
        </p:nvSpPr>
        <p:spPr>
          <a:xfrm>
            <a:off x="3935839" y="326457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err="1">
                <a:solidFill>
                  <a:srgbClr val="222222"/>
                </a:solidFill>
                <a:latin typeface="맑은 고딕"/>
              </a:rPr>
              <a:t>ControlResult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A48003-2EE1-261B-1718-A5FB1878B897}"/>
              </a:ext>
            </a:extLst>
          </p:cNvPr>
          <p:cNvSpPr txBox="1"/>
          <p:nvPr/>
        </p:nvSpPr>
        <p:spPr>
          <a:xfrm>
            <a:off x="3932355" y="3630338"/>
            <a:ext cx="1371600" cy="160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900">
                <a:solidFill>
                  <a:srgbClr val="6C7580"/>
                </a:solidFill>
                <a:latin typeface="맑은 고딕"/>
              </a:rPr>
              <a:t>제어 응답 생성</a:t>
            </a:r>
            <a:endParaRPr sz="9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85" name="Rectangle 28">
            <a:extLst>
              <a:ext uri="{FF2B5EF4-FFF2-40B4-BE49-F238E27FC236}">
                <a16:creationId xmlns:a16="http://schemas.microsoft.com/office/drawing/2014/main" id="{B21AE120-7801-A623-A54E-50BF5DAC52B1}"/>
              </a:ext>
            </a:extLst>
          </p:cNvPr>
          <p:cNvSpPr/>
          <p:nvPr/>
        </p:nvSpPr>
        <p:spPr>
          <a:xfrm>
            <a:off x="3813047" y="3126272"/>
            <a:ext cx="91440" cy="100584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914DA1-7B5E-D58E-09B9-985F3A5FC5A9}"/>
              </a:ext>
            </a:extLst>
          </p:cNvPr>
          <p:cNvSpPr txBox="1"/>
          <p:nvPr/>
        </p:nvSpPr>
        <p:spPr>
          <a:xfrm>
            <a:off x="5360124" y="3538005"/>
            <a:ext cx="137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07CC91-84BE-6DA8-2429-4DCEF8500980}"/>
              </a:ext>
            </a:extLst>
          </p:cNvPr>
          <p:cNvSpPr txBox="1"/>
          <p:nvPr/>
        </p:nvSpPr>
        <p:spPr>
          <a:xfrm>
            <a:off x="3727267" y="3538005"/>
            <a:ext cx="137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FED6A7-3443-25DD-2B62-A292E762B98D}"/>
              </a:ext>
            </a:extLst>
          </p:cNvPr>
          <p:cNvSpPr txBox="1"/>
          <p:nvPr/>
        </p:nvSpPr>
        <p:spPr>
          <a:xfrm>
            <a:off x="2105295" y="3538005"/>
            <a:ext cx="137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6D09"/>
                </a:solidFill>
                <a:latin typeface="맑은 고딕"/>
              </a:rPr>
              <a:t>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"장비 추가됨", "알람 정책 바뀜" 같은 단방향 통지가 어떻게 반영되는가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558919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1804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333333"/>
                </a:solidFill>
                <a:latin typeface="맑은 고딕"/>
              </a:rPr>
              <a:t>Admin에서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장비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추가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수정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삭제</a:t>
            </a:r>
            <a:endParaRPr sz="12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7559"/>
            <a:ext cx="11091672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107559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107559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6668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Kafka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liz.message.pipeline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발행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(DEVICE_ADDED_NOTIFICATION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등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6199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656199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2656199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6D09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1532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Collector —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CollectorMessageService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수신</a:t>
            </a:r>
            <a:endParaRPr sz="12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204839"/>
            <a:ext cx="11091672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204839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204839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6D09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36396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*Parser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가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처리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MonitorService.startMonitor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/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stopMonitor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등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호출</a:t>
            </a:r>
            <a:endParaRPr sz="12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53479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753479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3753479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6D09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1260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err="1">
                <a:solidFill>
                  <a:srgbClr val="333333"/>
                </a:solidFill>
                <a:latin typeface="맑은 고딕"/>
              </a:rPr>
              <a:t>다음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폴링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사이클부터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변경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사항</a:t>
            </a:r>
            <a:r>
              <a:rPr sz="1200" b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b="0" err="1">
                <a:solidFill>
                  <a:srgbClr val="333333"/>
                </a:solidFill>
                <a:latin typeface="맑은 고딕"/>
              </a:rPr>
              <a:t>반영</a:t>
            </a:r>
            <a:endParaRPr sz="1200" b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제목 40">
            <a:extLst>
              <a:ext uri="{FF2B5EF4-FFF2-40B4-BE49-F238E27FC236}">
                <a16:creationId xmlns:a16="http://schemas.microsoft.com/office/drawing/2014/main" id="{81FE86A4-D8D4-FF30-75B3-2742187B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모듈 간 통지</a:t>
            </a:r>
            <a:r>
              <a:rPr lang="en-US" altLang="ko-KR">
                <a:solidFill>
                  <a:srgbClr val="222222"/>
                </a:solidFill>
              </a:rPr>
              <a:t>(</a:t>
            </a:r>
            <a:r>
              <a:rPr lang="en" altLang="ko-KR">
                <a:solidFill>
                  <a:srgbClr val="222222"/>
                </a:solidFill>
              </a:rPr>
              <a:t>Notification) </a:t>
            </a:r>
            <a:r>
              <a:rPr lang="ko-KR" altLang="en-US">
                <a:solidFill>
                  <a:srgbClr val="222222"/>
                </a:solidFill>
              </a:rPr>
              <a:t>흐름</a:t>
            </a:r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산업용 표준 — Master/Slave 방식의 레지스터 읽기·쓰기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7394"/>
            <a:ext cx="5532120" cy="452628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7394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0455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Modbus TCP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7031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8F8F2"/>
                </a:solidFill>
                <a:latin typeface="맑은 고딕"/>
              </a:rPr>
              <a:t>산업용 표준 프로토콜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64674"/>
            <a:ext cx="5212080" cy="18288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9327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Master / Slave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588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6BE"/>
                </a:solidFill>
                <a:latin typeface="맑은 고딕"/>
              </a:rPr>
              <a:t>우리(Master)가 장비(Slave)의 레지스터를 읽고 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7051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자주 쓰는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6312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6BE"/>
                </a:solidFill>
                <a:latin typeface="맑은 고딕"/>
              </a:rPr>
              <a:t>"N번지부터 M개의 레지스터를 읽어줘"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775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응답 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4036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6BE"/>
                </a:solidFill>
                <a:latin typeface="맑은 고딕"/>
              </a:rPr>
              <a:t>그냥 바이트 배열 — 데이터 타입(FLOAT/INT16)으로 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4993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A54D"/>
                </a:solidFill>
                <a:latin typeface="맑은 고딕"/>
              </a:rPr>
              <a:t>전송 계층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1760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6BE"/>
                </a:solidFill>
                <a:latin typeface="맑은 고딕"/>
              </a:rPr>
              <a:t>TCP (기본 포트 502)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67394"/>
            <a:ext cx="544068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467394"/>
            <a:ext cx="91440" cy="452628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60455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예시 장비 — Liz의 관점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1970314"/>
            <a:ext cx="4846320" cy="502920"/>
          </a:xfrm>
          <a:prstGeom prst="rect">
            <a:avLst/>
          </a:prstGeom>
          <a:solidFill>
            <a:srgbClr val="1F2A37"/>
          </a:solidFill>
          <a:ln w="63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1970314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97031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8F8F2"/>
                </a:solidFill>
                <a:latin typeface="맑은 고딕"/>
              </a:rPr>
              <a:t>Device — 분전반 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51895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747554"/>
            <a:ext cx="4846320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37960" y="2747554"/>
            <a:ext cx="91440" cy="50292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74755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DeviceInterface — Modbus TCP, 192.168.1.50:502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29619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6D09"/>
                </a:solidFill>
                <a:latin typeface="맑은 고딕"/>
              </a:rP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52479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D09"/>
                </a:solidFill>
                <a:latin typeface="맑은 고딕"/>
              </a:rPr>
              <a:t>Checkpoints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3844834"/>
            <a:ext cx="4846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37960" y="3844834"/>
            <a:ext cx="91440" cy="3657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84483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전압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917986"/>
            <a:ext cx="1280160" cy="228600"/>
          </a:xfrm>
          <a:prstGeom prst="rect">
            <a:avLst/>
          </a:prstGeom>
          <a:solidFill>
            <a:srgbClr val="FFF1E2"/>
          </a:solidFill>
          <a:ln w="6350">
            <a:solidFill>
              <a:srgbClr val="FF6D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3963036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F6D09"/>
                </a:solidFill>
                <a:latin typeface="맑은 고딕"/>
              </a:rPr>
              <a:t>주소</a:t>
            </a:r>
            <a:r>
              <a:rPr sz="900" b="1">
                <a:solidFill>
                  <a:srgbClr val="FF6D09"/>
                </a:solidFill>
                <a:latin typeface="맑은 고딕"/>
              </a:rPr>
              <a:t> 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3917986"/>
            <a:ext cx="109728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391798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FLOAT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3917986"/>
            <a:ext cx="118872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49840" y="3963036"/>
            <a:ext cx="11887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1</a:t>
            </a:r>
            <a:r>
              <a:rPr lang="en-US" altLang="ko-KR" sz="900" b="1">
                <a:solidFill>
                  <a:srgbClr val="333333"/>
                </a:solidFill>
                <a:latin typeface="맑은 고딕"/>
              </a:rPr>
              <a:t>0</a:t>
            </a:r>
            <a:r>
              <a:rPr sz="900" b="1">
                <a:solidFill>
                  <a:srgbClr val="333333"/>
                </a:solidFill>
                <a:latin typeface="맑은 고딕"/>
              </a:rPr>
              <a:t>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302034"/>
            <a:ext cx="4846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37960" y="4302034"/>
            <a:ext cx="91440" cy="3657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430203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전류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4375186"/>
            <a:ext cx="1280160" cy="228600"/>
          </a:xfrm>
          <a:prstGeom prst="rect">
            <a:avLst/>
          </a:prstGeom>
          <a:solidFill>
            <a:srgbClr val="FFF1E2"/>
          </a:solidFill>
          <a:ln w="6350">
            <a:solidFill>
              <a:srgbClr val="FF6D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0" y="4420236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F6D09"/>
                </a:solidFill>
                <a:latin typeface="맑은 고딕"/>
              </a:rPr>
              <a:t>주소</a:t>
            </a:r>
            <a:r>
              <a:rPr sz="900" b="1">
                <a:solidFill>
                  <a:srgbClr val="FF6D09"/>
                </a:solidFill>
                <a:latin typeface="맑은 고딕"/>
              </a:rPr>
              <a:t> 102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4375186"/>
            <a:ext cx="109728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06840" y="437518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FLOAT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49840" y="4375186"/>
            <a:ext cx="118872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49840" y="4420236"/>
            <a:ext cx="11887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1</a:t>
            </a:r>
            <a:r>
              <a:rPr lang="en-US" altLang="ko-KR" sz="900" b="1">
                <a:solidFill>
                  <a:srgbClr val="333333"/>
                </a:solidFill>
                <a:latin typeface="맑은 고딕"/>
              </a:rPr>
              <a:t>0</a:t>
            </a:r>
            <a:r>
              <a:rPr sz="900" b="1">
                <a:solidFill>
                  <a:srgbClr val="333333"/>
                </a:solidFill>
                <a:latin typeface="맑은 고딕"/>
              </a:rPr>
              <a:t>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4759234"/>
            <a:ext cx="4846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37960" y="4759234"/>
            <a:ext cx="91440" cy="3657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475923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전력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4832386"/>
            <a:ext cx="1280160" cy="228600"/>
          </a:xfrm>
          <a:prstGeom prst="rect">
            <a:avLst/>
          </a:prstGeom>
          <a:solidFill>
            <a:srgbClr val="FFF1E2"/>
          </a:solidFill>
          <a:ln w="6350">
            <a:solidFill>
              <a:srgbClr val="FF6D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80960" y="4877436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F6D09"/>
                </a:solidFill>
                <a:latin typeface="맑은 고딕"/>
              </a:rPr>
              <a:t>주소</a:t>
            </a:r>
            <a:r>
              <a:rPr sz="900" b="1">
                <a:solidFill>
                  <a:srgbClr val="FF6D09"/>
                </a:solidFill>
                <a:latin typeface="맑은 고딕"/>
              </a:rPr>
              <a:t> 104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4832386"/>
            <a:ext cx="109728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06840" y="483238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FLOAT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4832386"/>
            <a:ext cx="118872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49840" y="4877436"/>
            <a:ext cx="11887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1</a:t>
            </a:r>
            <a:r>
              <a:rPr lang="en-US" altLang="ko-KR" sz="900" b="1">
                <a:solidFill>
                  <a:srgbClr val="333333"/>
                </a:solidFill>
                <a:latin typeface="맑은 고딕"/>
              </a:rPr>
              <a:t>0</a:t>
            </a:r>
            <a:r>
              <a:rPr sz="900" b="1">
                <a:solidFill>
                  <a:srgbClr val="333333"/>
                </a:solidFill>
                <a:latin typeface="맑은 고딕"/>
              </a:rPr>
              <a:t>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5216434"/>
            <a:ext cx="4846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37960" y="5216434"/>
            <a:ext cx="91440" cy="3657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521643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온도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0" y="5289586"/>
            <a:ext cx="1280160" cy="228600"/>
          </a:xfrm>
          <a:prstGeom prst="rect">
            <a:avLst/>
          </a:prstGeom>
          <a:solidFill>
            <a:srgbClr val="FFF1E2"/>
          </a:solidFill>
          <a:ln w="6350">
            <a:solidFill>
              <a:srgbClr val="FF6D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80960" y="5334636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F6D09"/>
                </a:solidFill>
                <a:latin typeface="맑은 고딕"/>
              </a:rPr>
              <a:t>주소</a:t>
            </a:r>
            <a:r>
              <a:rPr sz="900" b="1">
                <a:solidFill>
                  <a:srgbClr val="FF6D09"/>
                </a:solidFill>
                <a:latin typeface="맑은 고딕"/>
              </a:rPr>
              <a:t> 200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6840" y="5289586"/>
            <a:ext cx="109728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06840" y="528958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맑은 고딕"/>
              </a:rPr>
              <a:t>INT16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49840" y="5289586"/>
            <a:ext cx="1188720" cy="228600"/>
          </a:xfrm>
          <a:prstGeom prst="rect">
            <a:avLst/>
          </a:prstGeom>
          <a:solidFill>
            <a:srgbClr val="FAF5E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49840" y="5334636"/>
            <a:ext cx="11887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900" b="1">
                <a:solidFill>
                  <a:srgbClr val="333333"/>
                </a:solidFill>
                <a:latin typeface="맑은 고딕"/>
              </a:rPr>
              <a:t>10</a:t>
            </a:r>
            <a:r>
              <a:rPr sz="900" b="1">
                <a:solidFill>
                  <a:srgbClr val="333333"/>
                </a:solidFill>
                <a:latin typeface="맑은 고딕"/>
              </a:rPr>
              <a:t>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제목 71">
            <a:extLst>
              <a:ext uri="{FF2B5EF4-FFF2-40B4-BE49-F238E27FC236}">
                <a16:creationId xmlns:a16="http://schemas.microsoft.com/office/drawing/2014/main" id="{B14E1603-70B5-5A50-0E1D-86D607CE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222222"/>
                </a:solidFill>
              </a:rPr>
              <a:t>Modbus TCP </a:t>
            </a:r>
            <a:r>
              <a:rPr lang="ko-KR" altLang="en-US">
                <a:solidFill>
                  <a:srgbClr val="222222"/>
                </a:solidFill>
              </a:rPr>
              <a:t>짧게 </a:t>
            </a:r>
            <a:r>
              <a:rPr lang="en-US" altLang="ko-KR">
                <a:solidFill>
                  <a:srgbClr val="222222"/>
                </a:solidFill>
              </a:rPr>
              <a:t>+ </a:t>
            </a:r>
            <a:r>
              <a:rPr lang="ko-KR" altLang="en-US">
                <a:solidFill>
                  <a:srgbClr val="222222"/>
                </a:solidFill>
              </a:rPr>
              <a:t>예시 장비</a:t>
            </a:r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MonitorService.start() 부터 폴링 루프 시작까지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22131"/>
            <a:ext cx="5532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2213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2213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52213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MonitorService.start()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522131"/>
            <a:ext cx="2697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시동 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522131"/>
            <a:ext cx="5532120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79" y="152213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52213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8" y="1688952"/>
            <a:ext cx="224490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err="1">
                <a:solidFill>
                  <a:srgbClr val="222222"/>
                </a:solidFill>
                <a:latin typeface="맑은 고딕"/>
              </a:rPr>
              <a:t>TCPMonitorService.startService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49" y="1696647"/>
            <a:ext cx="2381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err="1">
                <a:solidFill>
                  <a:srgbClr val="6C7580"/>
                </a:solidFill>
                <a:latin typeface="맑은 고딕"/>
              </a:rPr>
              <a:t>Modbus도</a:t>
            </a:r>
            <a:r>
              <a:rPr sz="1000" b="0">
                <a:solidFill>
                  <a:srgbClr val="6C7580"/>
                </a:solidFill>
                <a:latin typeface="맑은 고딕"/>
              </a:rPr>
              <a:t> TCP </a:t>
            </a:r>
            <a:r>
              <a:rPr sz="1000" b="0" err="1">
                <a:solidFill>
                  <a:srgbClr val="6C7580"/>
                </a:solidFill>
                <a:latin typeface="맑은 고딕"/>
              </a:rPr>
              <a:t>계열로</a:t>
            </a:r>
            <a:r>
              <a:rPr sz="1000" b="0">
                <a:solidFill>
                  <a:srgbClr val="6C7580"/>
                </a:solidFill>
                <a:latin typeface="맑은 고딕"/>
              </a:rPr>
              <a:t> </a:t>
            </a:r>
            <a:r>
              <a:rPr sz="1000" b="0" err="1">
                <a:solidFill>
                  <a:srgbClr val="6C7580"/>
                </a:solidFill>
                <a:latin typeface="맑은 고딕"/>
              </a:rPr>
              <a:t>묶임</a:t>
            </a:r>
            <a:endParaRPr sz="1000" b="0">
              <a:solidFill>
                <a:srgbClr val="6C7580"/>
              </a:solidFill>
              <a:latin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116491"/>
            <a:ext cx="5532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211649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11649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211649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DB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116491"/>
            <a:ext cx="2697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InterfaceType = MODBUS 인 인터페이스 모두 찾기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2116491"/>
            <a:ext cx="5532120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211649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211649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11649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Monitor 1개씩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49" y="2291007"/>
            <a:ext cx="2381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DeviceInterface 1개 = Monitor 1개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710851"/>
            <a:ext cx="5532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271085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271085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271085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Driver 생성 + 그룹화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710851"/>
            <a:ext cx="2697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Checkpoint를 "FunctionCode 같고 주소 연속"으로 그룹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2710851"/>
            <a:ext cx="5532120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79" y="271085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271085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2793034"/>
            <a:ext cx="165898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err="1">
                <a:solidFill>
                  <a:srgbClr val="222222"/>
                </a:solidFill>
                <a:latin typeface="맑은 고딕"/>
              </a:rPr>
              <a:t>CheckTask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 → 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우선순위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리스트</a:t>
            </a:r>
            <a:r>
              <a:rPr sz="1100" b="1">
                <a:solidFill>
                  <a:srgbClr val="222222"/>
                </a:solidFill>
                <a:latin typeface="맑은 고딕"/>
              </a:rPr>
              <a:t> </a:t>
            </a:r>
            <a:r>
              <a:rPr sz="1100" b="1" err="1">
                <a:solidFill>
                  <a:srgbClr val="222222"/>
                </a:solidFill>
                <a:latin typeface="맑은 고딕"/>
              </a:rPr>
              <a:t>등록</a:t>
            </a:r>
            <a:endParaRPr sz="11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58349" y="2885367"/>
            <a:ext cx="2381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각 그룹을 다음 수집 예정 시각으로 정렬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05211"/>
            <a:ext cx="5532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330521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30521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330521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TCP 소켓 연결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3305211"/>
            <a:ext cx="2697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192.168.1.50:502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79" y="3305211"/>
            <a:ext cx="5532120" cy="502920"/>
          </a:xfrm>
          <a:prstGeom prst="rect">
            <a:avLst/>
          </a:prstGeom>
          <a:solidFill>
            <a:srgbClr val="FAF5E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79" y="3305211"/>
            <a:ext cx="91440" cy="5029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59" y="3305211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6D09"/>
                </a:solidFill>
                <a:latin typeface="맑은 고딕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3305211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폴링 루프 시작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8349" y="3479727"/>
            <a:ext cx="2381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C7580"/>
                </a:solidFill>
                <a:latin typeface="맑은 고딕"/>
              </a:rPr>
              <a:t>이제 무한 반복으로 들어감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제목 55">
            <a:extLst>
              <a:ext uri="{FF2B5EF4-FFF2-40B4-BE49-F238E27FC236}">
                <a16:creationId xmlns:a16="http://schemas.microsoft.com/office/drawing/2014/main" id="{37BE8FF8-0321-449D-F42F-DA9D67A6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222222"/>
                </a:solidFill>
              </a:rPr>
              <a:t>Monitor</a:t>
            </a:r>
            <a:r>
              <a:rPr lang="ko-KR" altLang="en-US">
                <a:solidFill>
                  <a:srgbClr val="222222"/>
                </a:solidFill>
              </a:rPr>
              <a:t>가 깨어나는 과정</a:t>
            </a: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요청 → 응답 → 처리 → 재정렬 → 반복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8919"/>
            <a:ext cx="91440" cy="10515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6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60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head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5327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우선순위 리스트의 가장 급한 그룹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55891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558919"/>
            <a:ext cx="91440" cy="10515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696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960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요청 패킷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15327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트랜잭션 ID + FC + 시작 주소 + 개수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155891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79" y="1558919"/>
            <a:ext cx="91440" cy="10515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1696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16960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TCP 송신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5327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응답 도착까지 대기 (4초 timeout)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399" y="155891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15399" y="1558919"/>
            <a:ext cx="91440" cy="105156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79" y="1696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D09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16960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응답 수신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79" y="215327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274763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2747639"/>
            <a:ext cx="91440" cy="10515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288479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A54D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88479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응답 파싱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34199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트랜잭션 ID 검증 + 데이터 타입 변환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274763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37560" y="2747639"/>
            <a:ext cx="91440" cy="10515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0440" y="288479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A54D"/>
                </a:solidFill>
                <a:latin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288479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체크포인트별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34199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Redis + Kafka + 알람 검사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79" y="274763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26479" y="2747639"/>
            <a:ext cx="91440" cy="10515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59" y="288479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A54D"/>
                </a:solidFill>
                <a:latin typeface="맑은 고딕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2884799"/>
            <a:ext cx="1645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222222"/>
                </a:solidFill>
                <a:latin typeface="맑은 고딕"/>
              </a:rPr>
              <a:t>성공한 시간 </a:t>
            </a:r>
            <a:r>
              <a:rPr sz="1300" b="1" err="1">
                <a:solidFill>
                  <a:srgbClr val="222222"/>
                </a:solidFill>
                <a:latin typeface="맑은 고딕"/>
              </a:rPr>
              <a:t>갱신</a:t>
            </a:r>
            <a:endParaRPr sz="1300" b="1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09359" y="334199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리스트 재정렬 — head 가 다음 대상으로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399" y="2747639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15399" y="2747639"/>
            <a:ext cx="91440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98279" y="288479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맑은 고딕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88479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다시 [01]로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3341999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C7580"/>
                </a:solidFill>
                <a:latin typeface="맑은 고딕"/>
              </a:rPr>
              <a:t>무한 반복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제목 69">
            <a:extLst>
              <a:ext uri="{FF2B5EF4-FFF2-40B4-BE49-F238E27FC236}">
                <a16:creationId xmlns:a16="http://schemas.microsoft.com/office/drawing/2014/main" id="{44916A98-BFAE-D920-3C15-FEDD4850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한 사이클이 어떻게 돌아가는가</a:t>
            </a: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C7580"/>
                </a:solidFill>
                <a:latin typeface="맑은 고딕"/>
              </a:rPr>
              <a:t>에러 상황별 대응 — 폴링이 멈추지 않게 하는 방어 로직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8919"/>
            <a:ext cx="11091672" cy="5943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5891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8F8F2"/>
                </a:solidFill>
                <a:latin typeface="맑은 고딕"/>
              </a:rPr>
              <a:t>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155891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8F8F2"/>
                </a:solidFill>
                <a:latin typeface="맑은 고딕"/>
              </a:rPr>
              <a:t>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53279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153279"/>
            <a:ext cx="91440" cy="5943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15327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응답이 4초 내에 안 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215327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실패 시각 갱신 → 다음 수집 미룸 → 연속 실패 카운트 +1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93359"/>
            <a:ext cx="11091672" cy="594360"/>
          </a:xfrm>
          <a:prstGeom prst="rect">
            <a:avLst/>
          </a:prstGeom>
          <a:solidFill>
            <a:srgbClr val="F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793359"/>
            <a:ext cx="91440" cy="5943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279335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트랜잭션 ID 안 맞음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79335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패킷 무시, 다음 응답 기다림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33439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33439"/>
            <a:ext cx="91440" cy="5943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343343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소켓 끊김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343343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재연결 시도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73519"/>
            <a:ext cx="11091672" cy="594360"/>
          </a:xfrm>
          <a:prstGeom prst="rect">
            <a:avLst/>
          </a:prstGeom>
          <a:solidFill>
            <a:srgbClr val="F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073519"/>
            <a:ext cx="91440" cy="594360"/>
          </a:xfrm>
          <a:prstGeom prst="rect">
            <a:avLst/>
          </a:prstGeom>
          <a:solidFill>
            <a:srgbClr val="FFA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07351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Modbus 예외 응답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407351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"이 주소 못 읽어" 거부 — 에러 로그, task는 정상 진행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13599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713599"/>
            <a:ext cx="9144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71359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연속 N회 실패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9" y="471359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DEVICE_DRIVER_PROTOCOL_ERROR 알람 발생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53679"/>
            <a:ext cx="11091672" cy="594360"/>
          </a:xfrm>
          <a:prstGeom prst="rect">
            <a:avLst/>
          </a:prstGeom>
          <a:solidFill>
            <a:srgbClr val="F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353679"/>
            <a:ext cx="91440" cy="594360"/>
          </a:xfrm>
          <a:prstGeom prst="rect">
            <a:avLst/>
          </a:prstGeom>
          <a:solidFill>
            <a:srgbClr val="2EA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59" y="5353679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정상 응답 한 번 받으면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5353679"/>
            <a:ext cx="5669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연속 실패 카운트 리셋 + DEVICE_ERROR 알람 종료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제목 37">
            <a:extLst>
              <a:ext uri="{FF2B5EF4-FFF2-40B4-BE49-F238E27FC236}">
                <a16:creationId xmlns:a16="http://schemas.microsoft.com/office/drawing/2014/main" id="{5CB1EBD1-B6AF-8C75-7D3F-5053CDD6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222222"/>
                </a:solidFill>
              </a:rPr>
              <a:t>에러 상황별 대응</a:t>
            </a:r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>
            <a:extLst>
              <a:ext uri="{FF2B5EF4-FFF2-40B4-BE49-F238E27FC236}">
                <a16:creationId xmlns:a16="http://schemas.microsoft.com/office/drawing/2014/main" id="{D9306E90-58DF-0BFE-A113-97E368A8F03F}"/>
              </a:ext>
            </a:extLst>
          </p:cNvPr>
          <p:cNvSpPr txBox="1">
            <a:spLocks/>
          </p:cNvSpPr>
          <p:nvPr/>
        </p:nvSpPr>
        <p:spPr>
          <a:xfrm>
            <a:off x="2552699" y="2779359"/>
            <a:ext cx="7086602" cy="2289882"/>
          </a:xfrm>
          <a:prstGeom prst="rect">
            <a:avLst/>
          </a:prstGeom>
          <a:noFill/>
        </p:spPr>
        <p:txBody>
          <a:bodyPr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altLang="ko-KR">
                <a:latin typeface="+mn-ea"/>
                <a:ea typeface="+mn-ea"/>
              </a:rPr>
            </a:br>
            <a:r>
              <a:rPr lang="en-US" altLang="ko-KR" sz="5475" b="1">
                <a:solidFill>
                  <a:srgbClr val="0070C0"/>
                </a:solidFill>
                <a:latin typeface="+mn-ea"/>
                <a:ea typeface="+mn-ea"/>
              </a:rPr>
              <a:t>Thank you!</a:t>
            </a:r>
            <a:br>
              <a:rPr lang="en-US" altLang="ko-KR" sz="5475" b="1">
                <a:solidFill>
                  <a:srgbClr val="0070C0"/>
                </a:solidFill>
                <a:latin typeface="+mn-ea"/>
                <a:ea typeface="+mn-ea"/>
              </a:rPr>
            </a:br>
            <a:br>
              <a:rPr lang="en-US" altLang="ko-KR" sz="1300" b="1">
                <a:latin typeface="+mn-ea"/>
                <a:ea typeface="+mn-ea"/>
              </a:rPr>
            </a:br>
            <a:r>
              <a:rPr lang="it-IT" altLang="ko-KR" sz="2000" b="1">
                <a:solidFill>
                  <a:srgbClr val="C00000"/>
                </a:solidFill>
                <a:latin typeface="+mn-ea"/>
                <a:ea typeface="+mn-ea"/>
              </a:rPr>
              <a:t>A Leader in Data Centre Monitor &amp; Control</a:t>
            </a:r>
            <a:br>
              <a:rPr lang="en-US" altLang="ko-KR" sz="3600" b="1">
                <a:solidFill>
                  <a:srgbClr val="C00000"/>
                </a:solidFill>
                <a:latin typeface="+mn-ea"/>
                <a:ea typeface="+mn-ea"/>
              </a:rPr>
            </a:br>
            <a:r>
              <a:rPr lang="en-US" altLang="ko-KR" sz="2025" b="1">
                <a:solidFill>
                  <a:srgbClr val="E6AF00"/>
                </a:solidFill>
                <a:latin typeface="+mn-ea"/>
                <a:ea typeface="+mn-ea"/>
              </a:rPr>
              <a:t>www</a:t>
            </a:r>
            <a:r>
              <a:rPr lang="en-US" altLang="ko-KR" sz="2025" b="1" err="1">
                <a:solidFill>
                  <a:srgbClr val="E6AF00"/>
                </a:solidFill>
                <a:latin typeface="+mn-ea"/>
                <a:ea typeface="+mn-ea"/>
              </a:rPr>
              <a:t>.onionsoftware.com</a:t>
            </a:r>
            <a:br>
              <a:rPr lang="en-US" altLang="ko-KR" sz="2025" b="1">
                <a:solidFill>
                  <a:srgbClr val="E6AF00"/>
                </a:solidFill>
                <a:latin typeface="+mn-ea"/>
                <a:ea typeface="+mn-ea"/>
              </a:rPr>
            </a:br>
            <a:br>
              <a:rPr lang="en-US" altLang="ko-KR" sz="1650" b="1">
                <a:latin typeface="+mn-ea"/>
                <a:ea typeface="+mn-ea"/>
              </a:rPr>
            </a:br>
            <a:r>
              <a:rPr lang="en-US" altLang="ko-KR" sz="1650" b="1">
                <a:latin typeface="+mn-ea"/>
                <a:ea typeface="+mn-ea"/>
              </a:rPr>
              <a:t>	</a:t>
            </a:r>
            <a:endParaRPr lang="ko-KR" altLang="en-US" sz="1500" b="1"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03D27C-5D1B-4175-BDEB-7FB180A37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983" y="1962150"/>
            <a:ext cx="838622" cy="10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7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custGeom>
          <a:avLst/>
          <a:gdLst>
            <a:gd name="connsiteX0" fmla="*/ 0 w 3093282"/>
            <a:gd name="connsiteY0" fmla="*/ 0 h 452418"/>
            <a:gd name="connsiteX1" fmla="*/ 422749 w 3093282"/>
            <a:gd name="connsiteY1" fmla="*/ 0 h 452418"/>
            <a:gd name="connsiteX2" fmla="*/ 938296 w 3093282"/>
            <a:gd name="connsiteY2" fmla="*/ 0 h 452418"/>
            <a:gd name="connsiteX3" fmla="*/ 1361044 w 3093282"/>
            <a:gd name="connsiteY3" fmla="*/ 0 h 452418"/>
            <a:gd name="connsiteX4" fmla="*/ 1845658 w 3093282"/>
            <a:gd name="connsiteY4" fmla="*/ 0 h 452418"/>
            <a:gd name="connsiteX5" fmla="*/ 2330272 w 3093282"/>
            <a:gd name="connsiteY5" fmla="*/ 0 h 452418"/>
            <a:gd name="connsiteX6" fmla="*/ 3093282 w 3093282"/>
            <a:gd name="connsiteY6" fmla="*/ 0 h 452418"/>
            <a:gd name="connsiteX7" fmla="*/ 3093282 w 3093282"/>
            <a:gd name="connsiteY7" fmla="*/ 452418 h 452418"/>
            <a:gd name="connsiteX8" fmla="*/ 2670533 w 3093282"/>
            <a:gd name="connsiteY8" fmla="*/ 452418 h 452418"/>
            <a:gd name="connsiteX9" fmla="*/ 2124054 w 3093282"/>
            <a:gd name="connsiteY9" fmla="*/ 452418 h 452418"/>
            <a:gd name="connsiteX10" fmla="*/ 1639439 w 3093282"/>
            <a:gd name="connsiteY10" fmla="*/ 452418 h 452418"/>
            <a:gd name="connsiteX11" fmla="*/ 1185758 w 3093282"/>
            <a:gd name="connsiteY11" fmla="*/ 452418 h 452418"/>
            <a:gd name="connsiteX12" fmla="*/ 763010 w 3093282"/>
            <a:gd name="connsiteY12" fmla="*/ 452418 h 452418"/>
            <a:gd name="connsiteX13" fmla="*/ 0 w 3093282"/>
            <a:gd name="connsiteY13" fmla="*/ 452418 h 452418"/>
            <a:gd name="connsiteX14" fmla="*/ 0 w 3093282"/>
            <a:gd name="connsiteY14" fmla="*/ 0 h 452418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</a:cxnLst>
          <a:rect l="l" t="t" r="r" b="b"/>
          <a:pathLst>
            <a:path w="3093282" h="452418" extrusionOk="0">
              <a:moveTo>
                <a:pt x="0" y="0"/>
              </a:moveTo>
              <a:cubicBezTo>
                <a:pt x="178851" y="-31"/>
                <a:pt x="302221" y="502"/>
                <a:pt x="422749" y="0"/>
              </a:cubicBezTo>
              <a:cubicBezTo>
                <a:pt x="543277" y="-502"/>
                <a:pt x="687898" y="14082"/>
                <a:pt x="938296" y="0"/>
              </a:cubicBezTo>
              <a:cubicBezTo>
                <a:pt x="1188694" y="-14082"/>
                <a:pt x="1197858" y="23519"/>
                <a:pt x="1361044" y="0"/>
              </a:cubicBezTo>
              <a:cubicBezTo>
                <a:pt x="1524230" y="-23519"/>
                <a:pt x="1673447" y="9904"/>
                <a:pt x="1845658" y="0"/>
              </a:cubicBezTo>
              <a:cubicBezTo>
                <a:pt x="2017869" y="-9904"/>
                <a:pt x="2185850" y="1013"/>
                <a:pt x="2330272" y="0"/>
              </a:cubicBezTo>
              <a:cubicBezTo>
                <a:pt x="2474694" y="-1013"/>
                <a:pt x="2932990" y="19141"/>
                <a:pt x="3093282" y="0"/>
              </a:cubicBezTo>
              <a:cubicBezTo>
                <a:pt x="3135967" y="108688"/>
                <a:pt x="3063538" y="262556"/>
                <a:pt x="3093282" y="452418"/>
              </a:cubicBezTo>
              <a:cubicBezTo>
                <a:pt x="2955049" y="456597"/>
                <a:pt x="2831137" y="444037"/>
                <a:pt x="2670533" y="452418"/>
              </a:cubicBezTo>
              <a:cubicBezTo>
                <a:pt x="2509929" y="460799"/>
                <a:pt x="2265273" y="394167"/>
                <a:pt x="2124054" y="452418"/>
              </a:cubicBezTo>
              <a:cubicBezTo>
                <a:pt x="1982835" y="510669"/>
                <a:pt x="1797780" y="403954"/>
                <a:pt x="1639439" y="452418"/>
              </a:cubicBezTo>
              <a:cubicBezTo>
                <a:pt x="1481099" y="500882"/>
                <a:pt x="1302973" y="415336"/>
                <a:pt x="1185758" y="452418"/>
              </a:cubicBezTo>
              <a:cubicBezTo>
                <a:pt x="1068543" y="489500"/>
                <a:pt x="965520" y="416115"/>
                <a:pt x="763010" y="452418"/>
              </a:cubicBezTo>
              <a:cubicBezTo>
                <a:pt x="560500" y="488721"/>
                <a:pt x="328840" y="370522"/>
                <a:pt x="0" y="452418"/>
              </a:cubicBezTo>
              <a:cubicBezTo>
                <a:pt x="-28402" y="279334"/>
                <a:pt x="23897" y="122086"/>
                <a:pt x="0" y="0"/>
              </a:cubicBezTo>
              <a:close/>
            </a:path>
          </a:pathLst>
        </a:custGeom>
        <a:noFill/>
        <a:ln w="28575">
          <a:solidFill>
            <a:srgbClr val="C12532"/>
          </a:solidFill>
          <a:extLst>
            <a:ext uri="{C807C97D-BFC1-408E-A445-0C87EB9F89A2}">
              <ask:lineSketchStyleProps xmlns:ask="http://schemas.microsoft.com/office/drawing/2018/sketchyshapes" sd="392481921">
                <ask:type>
                  <ask:lineSketchScribble/>
                </ask:type>
              </ask:lineSketchStyleProps>
            </a:ext>
          </a:extLst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2c7bdcfa-fcbb-43b4-a857-45376d6b1b13" xsi:nil="true"/>
    <SharedWithUsers xmlns="dc492fa4-9b29-40b8-882c-45ecca9d073e">
      <UserInfo>
        <DisplayName/>
        <AccountId xsi:nil="true"/>
        <AccountType/>
      </UserInfo>
    </SharedWithUsers>
    <lcf76f155ced4ddcb4097134ff3c332f xmlns="2c7bdcfa-fcbb-43b4-a857-45376d6b1b13">
      <Terms xmlns="http://schemas.microsoft.com/office/infopath/2007/PartnerControls"/>
    </lcf76f155ced4ddcb4097134ff3c332f>
    <TaxCatchAll xmlns="dc492fa4-9b29-40b8-882c-45ecca9d073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873C3392BC0DB43BDAA37E77FC4AE80" ma:contentTypeVersion="18" ma:contentTypeDescription="새 문서를 만듭니다." ma:contentTypeScope="" ma:versionID="1a2c14dd3da9d90d6cb953260034c0c3">
  <xsd:schema xmlns:xsd="http://www.w3.org/2001/XMLSchema" xmlns:xs="http://www.w3.org/2001/XMLSchema" xmlns:p="http://schemas.microsoft.com/office/2006/metadata/properties" xmlns:ns2="2c7bdcfa-fcbb-43b4-a857-45376d6b1b13" xmlns:ns3="dc492fa4-9b29-40b8-882c-45ecca9d073e" targetNamespace="http://schemas.microsoft.com/office/2006/metadata/properties" ma:root="true" ma:fieldsID="0de2018d6e75a75564d0119f8c8c7d30" ns2:_="" ns3:_="">
    <xsd:import namespace="2c7bdcfa-fcbb-43b4-a857-45376d6b1b13"/>
    <xsd:import namespace="dc492fa4-9b29-40b8-882c-45ecca9d07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bdcfa-fcbb-43b4-a857-45376d6b1b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51f1c47d-1fe2-4efe-b552-668439b4a0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492fa4-9b29-40b8-882c-45ecca9d073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fce0b1e-4fca-438b-9cea-0f12cef04ed4}" ma:internalName="TaxCatchAll" ma:showField="CatchAllData" ma:web="dc492fa4-9b29-40b8-882c-45ecca9d07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53BEC4-1B9B-4ED7-A88D-5328DD2567F1}">
  <ds:schemaRefs>
    <ds:schemaRef ds:uri="2c7bdcfa-fcbb-43b4-a857-45376d6b1b13"/>
    <ds:schemaRef ds:uri="dc492fa4-9b29-40b8-882c-45ecca9d0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A0227F-7188-4CDC-8FE9-062D6DE3A4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54512A-170E-4E38-A568-F55F64DDCDFC}">
  <ds:schemaRefs>
    <ds:schemaRef ds:uri="2c7bdcfa-fcbb-43b4-a857-45376d6b1b13"/>
    <ds:schemaRef ds:uri="dc492fa4-9b29-40b8-882c-45ecca9d07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테마</vt:lpstr>
      <vt:lpstr>Collector MonitorService</vt:lpstr>
      <vt:lpstr>MonitorService</vt:lpstr>
      <vt:lpstr>핵심은 3계층 구조</vt:lpstr>
      <vt:lpstr>3계층을 비유로 풀면</vt:lpstr>
      <vt:lpstr>왜 프로토콜별로 서비스를 나눴나</vt:lpstr>
      <vt:lpstr>Device · DeviceInterface · Checkpoint</vt:lpstr>
      <vt:lpstr>시작 흐름 — 위에서 아래로</vt:lpstr>
      <vt:lpstr>한 장비를 모니터링한다는 것</vt:lpstr>
      <vt:lpstr>우선순위 폴링 큐 — 개념만 알아두기</vt:lpstr>
      <vt:lpstr>역할 부여 흐름</vt:lpstr>
      <vt:lpstr>ACTIVE를 받았을 때</vt:lpstr>
      <vt:lpstr>STANDBY 모드의 4가지 상태</vt:lpstr>
      <vt:lpstr>역할 전환과 핵심 포인트</vt:lpstr>
      <vt:lpstr>데이터 3종 분류</vt:lpstr>
      <vt:lpstr>수집값(CheckValue) 흐름</vt:lpstr>
      <vt:lpstr>트랩(Trap) 흐름</vt:lpstr>
      <vt:lpstr>제어(Control) 흐름</vt:lpstr>
      <vt:lpstr>모듈 간 통지(Notification) 흐름</vt:lpstr>
      <vt:lpstr>Modbus TCP 짧게 + 예시 장비</vt:lpstr>
      <vt:lpstr>Monitor가 깨어나는 과정</vt:lpstr>
      <vt:lpstr>한 사이클이 어떻게 돌아가는가</vt:lpstr>
      <vt:lpstr>에러 상황별 대응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Philip 이필주</dc:creator>
  <cp:revision>1</cp:revision>
  <cp:lastPrinted>2023-03-14T02:01:19Z</cp:lastPrinted>
  <dcterms:created xsi:type="dcterms:W3CDTF">2023-03-08T06:10:26Z</dcterms:created>
  <dcterms:modified xsi:type="dcterms:W3CDTF">2026-05-12T08:04:17Z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0x0101000873C3392BC0DB43BDAA37E77FC4AE80</vt:lpwstr>
  </property>
  <property fmtid="{D5CDD505-2E9C-101B-9397-08002B2CF9AE}" pid="3" name="Order">
    <vt:lpwstr>62500.0000000000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  <property fmtid="{D5CDD505-2E9C-101B-9397-08002B2CF9AE}" pid="11" name="_activity">
    <vt:lpwstr>{"FileActivityType":"9","FileActivityTimeStamp":"2025-07-10T00:06:59.673Z","FileActivityUsersOnPage":[{"DisplayName":"Logan 이진익","Id":"logan.lee@onionsoftware.com"}],"FileActivityNavigationId":null}</vt:lpwstr>
  </property>
</Properties>
</file>